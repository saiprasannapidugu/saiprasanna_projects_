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8" r:id="rId3"/>
    <p:sldId id="260" r:id="rId4"/>
    <p:sldId id="259" r:id="rId5"/>
    <p:sldId id="261" r:id="rId6"/>
    <p:sldId id="263" r:id="rId7"/>
    <p:sldId id="262" r:id="rId8"/>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2pPr>
    <a:lvl3pPr marL="914400" lvl="2"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3pPr>
    <a:lvl4pPr marL="1371600" lvl="3"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4pPr>
    <a:lvl5pPr marL="1828800" lvl="4"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5pPr>
    <a:lvl6pPr marL="2286000" lvl="5"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6pPr>
    <a:lvl7pPr marL="2743200" lvl="6"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7pPr>
    <a:lvl8pPr marL="3200400" lvl="7"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8pPr>
    <a:lvl9pPr marL="3657600" lvl="8" indent="0" algn="l" defTabSz="914400" rtl="0" eaLnBrk="0" fontAlgn="base" latinLnBrk="0" hangingPunct="0">
      <a:lnSpc>
        <a:spcPct val="100000"/>
      </a:lnSpc>
      <a:spcBef>
        <a:spcPct val="0"/>
      </a:spcBef>
      <a:spcAft>
        <a:spcPct val="0"/>
      </a:spcAft>
      <a:buNone/>
      <a:defRPr b="0" i="0" u="none" kern="1200" baseline="0">
        <a:solidFill>
          <a:srgbClr val="000000"/>
        </a:solidFill>
        <a:latin typeface="Calibri" panose="020F0502020204030204" pitchFamily="34" charset="0"/>
        <a:ea typeface="+mn-ea"/>
        <a:cs typeface="+mn-cs"/>
        <a:sym typeface="Calibri" panose="020F050202020403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E2E301-2A4A-4FD6-B152-87612843377B}" v="15" dt="2026-04-07T03:35:56.320"/>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1111" autoAdjust="0"/>
  </p:normalViewPr>
  <p:slideViewPr>
    <p:cSldViewPr showGuides="1">
      <p:cViewPr varScale="1">
        <p:scale>
          <a:sx n="75" d="100"/>
          <a:sy n="75" d="100"/>
        </p:scale>
        <p:origin x="965"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prasanna pidugu" userId="0493ba1a69568b2c" providerId="LiveId" clId="{3BAC775E-2093-4741-903A-A74A71AF2D16}"/>
    <pc:docChg chg="undo custSel modSld">
      <pc:chgData name="saiprasanna pidugu" userId="0493ba1a69568b2c" providerId="LiveId" clId="{3BAC775E-2093-4741-903A-A74A71AF2D16}" dt="2026-04-07T03:36:41.974" v="242" actId="1076"/>
      <pc:docMkLst>
        <pc:docMk/>
      </pc:docMkLst>
      <pc:sldChg chg="modSp mod">
        <pc:chgData name="saiprasanna pidugu" userId="0493ba1a69568b2c" providerId="LiveId" clId="{3BAC775E-2093-4741-903A-A74A71AF2D16}" dt="2026-04-07T03:36:41.974" v="242" actId="1076"/>
        <pc:sldMkLst>
          <pc:docMk/>
          <pc:sldMk cId="1292420300" sldId="261"/>
        </pc:sldMkLst>
        <pc:spChg chg="mod">
          <ac:chgData name="saiprasanna pidugu" userId="0493ba1a69568b2c" providerId="LiveId" clId="{3BAC775E-2093-4741-903A-A74A71AF2D16}" dt="2026-04-07T03:36:19.808" v="241" actId="14100"/>
          <ac:spMkLst>
            <pc:docMk/>
            <pc:sldMk cId="1292420300" sldId="261"/>
            <ac:spMk id="12" creationId="{C505B46B-76AC-AEEE-39A0-28411D3934E0}"/>
          </ac:spMkLst>
        </pc:spChg>
        <pc:spChg chg="mod">
          <ac:chgData name="saiprasanna pidugu" userId="0493ba1a69568b2c" providerId="LiveId" clId="{3BAC775E-2093-4741-903A-A74A71AF2D16}" dt="2026-04-07T03:36:41.974" v="242" actId="1076"/>
          <ac:spMkLst>
            <pc:docMk/>
            <pc:sldMk cId="1292420300" sldId="261"/>
            <ac:spMk id="16" creationId="{505C5CC2-DFA4-FA65-41D2-4BC40F6D8CFA}"/>
          </ac:spMkLst>
        </pc:spChg>
        <pc:cxnChg chg="mod">
          <ac:chgData name="saiprasanna pidugu" userId="0493ba1a69568b2c" providerId="LiveId" clId="{3BAC775E-2093-4741-903A-A74A71AF2D16}" dt="2026-04-07T03:36:19.808" v="241" actId="14100"/>
          <ac:cxnSpMkLst>
            <pc:docMk/>
            <pc:sldMk cId="1292420300" sldId="261"/>
            <ac:cxnSpMk id="28" creationId="{8951A490-94B0-B10B-5F74-C652DAA6BB4A}"/>
          </ac:cxnSpMkLst>
        </pc:cxnChg>
        <pc:cxnChg chg="mod">
          <ac:chgData name="saiprasanna pidugu" userId="0493ba1a69568b2c" providerId="LiveId" clId="{3BAC775E-2093-4741-903A-A74A71AF2D16}" dt="2026-04-07T03:36:19.808" v="241" actId="14100"/>
          <ac:cxnSpMkLst>
            <pc:docMk/>
            <pc:sldMk cId="1292420300" sldId="261"/>
            <ac:cxnSpMk id="30" creationId="{F8735F0D-3105-D99B-618B-375832933DEA}"/>
          </ac:cxnSpMkLst>
        </pc:cxnChg>
        <pc:cxnChg chg="mod">
          <ac:chgData name="saiprasanna pidugu" userId="0493ba1a69568b2c" providerId="LiveId" clId="{3BAC775E-2093-4741-903A-A74A71AF2D16}" dt="2026-04-07T03:36:41.974" v="242" actId="1076"/>
          <ac:cxnSpMkLst>
            <pc:docMk/>
            <pc:sldMk cId="1292420300" sldId="261"/>
            <ac:cxnSpMk id="40" creationId="{27384AD2-EE33-28BF-2130-CEEF4A1723E0}"/>
          </ac:cxnSpMkLst>
        </pc:cxnChg>
      </pc:sldChg>
      <pc:sldChg chg="modSp mod">
        <pc:chgData name="saiprasanna pidugu" userId="0493ba1a69568b2c" providerId="LiveId" clId="{3BAC775E-2093-4741-903A-A74A71AF2D16}" dt="2026-04-07T03:17:51.944" v="198" actId="20577"/>
        <pc:sldMkLst>
          <pc:docMk/>
          <pc:sldMk cId="3734916532" sldId="263"/>
        </pc:sldMkLst>
        <pc:graphicFrameChg chg="mod modGraphic">
          <ac:chgData name="saiprasanna pidugu" userId="0493ba1a69568b2c" providerId="LiveId" clId="{3BAC775E-2093-4741-903A-A74A71AF2D16}" dt="2026-04-07T03:17:51.944" v="198" actId="20577"/>
          <ac:graphicFrameMkLst>
            <pc:docMk/>
            <pc:sldMk cId="3734916532" sldId="263"/>
            <ac:graphicFrameMk id="2" creationId="{CCF3CE5A-6F0D-AB55-0331-3B7C29D4CD7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p:cNvSpPr>
            <a:spLocks noGrp="1" noRot="1" noChangeAspect="1"/>
          </p:cNvSpPr>
          <p:nvPr>
            <p:ph type="sldImg"/>
          </p:nvPr>
        </p:nvSpPr>
        <p:spPr>
          <a:xfrm>
            <a:off x="1143000" y="685800"/>
            <a:ext cx="4572000" cy="3429000"/>
          </a:xfrm>
          <a:prstGeom prst="rect">
            <a:avLst/>
          </a:prstGeom>
          <a:noFill/>
          <a:ln w="9525">
            <a:noFill/>
          </a:ln>
        </p:spPr>
        <p:txBody>
          <a:bodyPr/>
          <a:lstStyle/>
          <a:p>
            <a:endParaRPr lang="en-IN"/>
          </a:p>
        </p:txBody>
      </p:sp>
      <p:sp>
        <p:nvSpPr>
          <p:cNvPr id="2" name="Rectangle 2"/>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rPr>
              <a:t>Click to edit Template text styles</a:t>
            </a:r>
          </a:p>
          <a:p>
            <a:pPr marL="0" marR="0" lvl="1" indent="22860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rPr>
              <a:t>Second level</a:t>
            </a:r>
          </a:p>
          <a:p>
            <a:pPr marL="0" marR="0" lvl="2" indent="45720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rPr>
              <a:t>Third level</a:t>
            </a:r>
          </a:p>
          <a:p>
            <a:pPr marL="0" marR="0" lvl="3" indent="68580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rPr>
              <a:t>Fourth level</a:t>
            </a:r>
          </a:p>
          <a:p>
            <a:pPr marL="0" marR="0" lvl="4" indent="91440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sym typeface="Calibri" panose="020F0502020204030204" pitchFamily="34" charset="0"/>
              </a:rPr>
              <a:t>Fifth level</a:t>
            </a: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1pPr>
    <a:lvl2pPr indent="228600" algn="l" rtl="0" eaLnBrk="0" fontAlgn="base" hangingPunct="0">
      <a:spcBef>
        <a:spcPct val="0"/>
      </a:spcBef>
      <a:spcAft>
        <a:spcPct val="0"/>
      </a:spcAft>
      <a:defRPr sz="1200"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2pPr>
    <a:lvl3pPr indent="457200" algn="l" rtl="0" eaLnBrk="0" fontAlgn="base" hangingPunct="0">
      <a:spcBef>
        <a:spcPct val="0"/>
      </a:spcBef>
      <a:spcAft>
        <a:spcPct val="0"/>
      </a:spcAft>
      <a:defRPr sz="1200"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3pPr>
    <a:lvl4pPr indent="685800" algn="l" rtl="0" eaLnBrk="0" fontAlgn="base" hangingPunct="0">
      <a:spcBef>
        <a:spcPct val="0"/>
      </a:spcBef>
      <a:spcAft>
        <a:spcPct val="0"/>
      </a:spcAft>
      <a:defRPr sz="1200"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4pPr>
    <a:lvl5pPr indent="914400" algn="l" rtl="0" eaLnBrk="0" fontAlgn="base" hangingPunct="0">
      <a:spcBef>
        <a:spcPct val="0"/>
      </a:spcBef>
      <a:spcAft>
        <a:spcPct val="0"/>
      </a:spcAft>
      <a:defRPr sz="1200"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a:xfrm>
            <a:off x="381000" y="685800"/>
            <a:ext cx="6096000" cy="3429000"/>
          </a:xfrm>
        </p:spPr>
        <p:txBody>
          <a:bodyPr/>
          <a:lstStyle/>
          <a:p>
            <a:endParaRPr lang="en-IN"/>
          </a:p>
        </p:txBody>
      </p:sp>
      <p:sp>
        <p:nvSpPr>
          <p:cNvPr id="4099" name="Notes Placeholder 2"/>
          <p:cNvSpPr>
            <a:spLocks noGrp="1"/>
          </p:cNvSpPr>
          <p:nvPr>
            <p:ph type="body" idx="1"/>
          </p:nvPr>
        </p:nvSpPr>
        <p:spPr/>
        <p:txBody>
          <a:bodyPr wrap="square" lIns="91440" tIns="45720" rIns="91440" bIns="45720" anchor="t" anchorCtr="0"/>
          <a:lstStyle/>
          <a:p>
            <a:pPr lvl="0" eaLnBrk="1"/>
            <a:endParaRPr lang="en-I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xfrm>
            <a:off x="381000" y="685800"/>
            <a:ext cx="6096000" cy="3429000"/>
          </a:xfrm>
        </p:spPr>
        <p:txBody>
          <a:bodyPr/>
          <a:lstStyle/>
          <a:p>
            <a:endParaRPr lang="en-IN"/>
          </a:p>
        </p:txBody>
      </p:sp>
      <p:sp>
        <p:nvSpPr>
          <p:cNvPr id="8195" name="Notes Placeholder 2"/>
          <p:cNvSpPr>
            <a:spLocks noGrp="1"/>
          </p:cNvSpPr>
          <p:nvPr>
            <p:ph type="body" idx="1"/>
          </p:nvPr>
        </p:nvSpPr>
        <p:spPr/>
        <p:txBody>
          <a:bodyPr wrap="square" lIns="91440" tIns="45720" rIns="91440" bIns="45720" anchor="t" anchorCtr="0"/>
          <a:lstStyle/>
          <a:p>
            <a:pPr lvl="0" eaLnBrk="1"/>
            <a:endParaRPr lang="en-I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Slide Number Placeholder 3"/>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Slide Number Placeholder 2"/>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vert="horz" wrap="square" lIns="45720" tIns="45720" rIns="4572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Pct val="100000"/>
              <a:buFont typeface="Arial" panose="020B0604020202020204" pitchFamily="34" charset="0"/>
              <a:buNone/>
              <a:defRPr/>
            </a:pPr>
            <a:endParaRPr kumimoji="0" lang="en-IN" sz="3200" b="0" i="0" u="none" strike="noStrike" kern="1200" cap="none" spc="0" normalizeH="0" baseline="0" noProof="0">
              <a:ln>
                <a:noFill/>
              </a:ln>
              <a:solidFill>
                <a:srgbClr val="000000"/>
              </a:solidFill>
              <a:effectLst/>
              <a:uLnTx/>
              <a:uFillTx/>
              <a:latin typeface="+mn-lt"/>
              <a:ea typeface="+mn-ea"/>
              <a:cs typeface="+mn-cs"/>
              <a:sym typeface="Calibri" panose="020F0502020204030204" pitchFamily="34" charset="0"/>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6000" y="394405"/>
            <a:ext cx="10800000" cy="792000"/>
          </a:xfrm>
        </p:spPr>
        <p:txBody>
          <a:bodyPr/>
          <a:lstStyle>
            <a:lvl1pPr algn="ctr">
              <a:defRPr sz="3200">
                <a:solidFill>
                  <a:schemeClr val="tx1">
                    <a:lumMod val="85000"/>
                    <a:lumOff val="15000"/>
                  </a:schemeClr>
                </a:solidFill>
                <a:latin typeface="+mj-lt"/>
              </a:defRPr>
            </a:lvl1pPr>
          </a:lstStyle>
          <a:p>
            <a:r>
              <a:rPr lang="en-US" dirty="0"/>
              <a:t>Click to add title</a:t>
            </a:r>
          </a:p>
        </p:txBody>
      </p:sp>
      <p:sp>
        <p:nvSpPr>
          <p:cNvPr id="3" name="日期占位符 2"/>
          <p:cNvSpPr>
            <a:spLocks noGrp="1"/>
          </p:cNvSpPr>
          <p:nvPr>
            <p:ph type="dt" sz="half" idx="10"/>
            <p:custDataLst>
              <p:tags r:id="rId2"/>
            </p:custDataLst>
          </p:nvPr>
        </p:nvSpPr>
        <p:spPr>
          <a:xfrm>
            <a:off x="612000" y="6314400"/>
            <a:ext cx="2700000" cy="316800"/>
          </a:xfrm>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title"/>
          </p:nvPr>
        </p:nvSpPr>
        <p:spPr>
          <a:xfrm>
            <a:off x="838200" y="365125"/>
            <a:ext cx="10515600" cy="1325563"/>
          </a:xfrm>
          <a:prstGeom prst="rect">
            <a:avLst/>
          </a:prstGeom>
          <a:noFill/>
          <a:ln w="12700">
            <a:noFill/>
          </a:ln>
        </p:spPr>
        <p:txBody>
          <a:bodyPr lIns="45720" rIns="45720" anchor="ctr" anchorCtr="0"/>
          <a:lstStyle/>
          <a:p>
            <a:pPr lvl="0"/>
            <a:r>
              <a:rPr lang="en-US" altLang="en-US" dirty="0"/>
              <a:t>Click to edit Template title style</a:t>
            </a:r>
          </a:p>
        </p:txBody>
      </p:sp>
      <p:sp>
        <p:nvSpPr>
          <p:cNvPr id="1027" name="Rectangle 2"/>
          <p:cNvSpPr>
            <a:spLocks noGrp="1"/>
          </p:cNvSpPr>
          <p:nvPr>
            <p:ph type="body" idx="1"/>
          </p:nvPr>
        </p:nvSpPr>
        <p:spPr>
          <a:xfrm>
            <a:off x="838200" y="1825625"/>
            <a:ext cx="10515600" cy="4351338"/>
          </a:xfrm>
          <a:prstGeom prst="rect">
            <a:avLst/>
          </a:prstGeom>
          <a:noFill/>
          <a:ln w="12700">
            <a:noFill/>
          </a:ln>
        </p:spPr>
        <p:txBody>
          <a:bodyPr lIns="45720" rIns="45720"/>
          <a:lstStyle/>
          <a:p>
            <a:pPr lvl="0"/>
            <a:r>
              <a:rPr lang="en-US" altLang="en-US" dirty="0"/>
              <a:t>Click to edit Template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Rectangle 3"/>
          <p:cNvSpPr>
            <a:spLocks noGrp="1"/>
          </p:cNvSpPr>
          <p:nvPr>
            <p:ph type="sldNum" sz="quarter" idx="2"/>
          </p:nvPr>
        </p:nvSpPr>
        <p:spPr bwMode="auto">
          <a:xfrm>
            <a:off x="11093450" y="6413500"/>
            <a:ext cx="257175" cy="247650"/>
          </a:xfrm>
          <a:prstGeom prst="rect">
            <a:avLst/>
          </a:prstGeom>
          <a:noFill/>
          <a:ln>
            <a:noFill/>
          </a:ln>
          <a:effectLst/>
        </p:spPr>
        <p:txBody>
          <a:bodyPr vert="horz" wrap="none" lIns="45720" tIns="45720" rIns="45720" bIns="45720" numCol="1" anchor="ctr" anchorCtr="0" compatLnSpc="1"/>
          <a:lstStyle>
            <a:lvl1pPr algn="r">
              <a:defRPr sz="1200">
                <a:solidFill>
                  <a:srgbClr val="888888"/>
                </a:solidFill>
              </a:defRPr>
            </a:lvl1pPr>
          </a:lstStyle>
          <a:p>
            <a:pPr lvl="0" eaLnBrk="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lnSpc>
          <a:spcPct val="90000"/>
        </a:lnSpc>
        <a:spcBef>
          <a:spcPct val="0"/>
        </a:spcBef>
        <a:spcAft>
          <a:spcPct val="0"/>
        </a:spcAft>
        <a:defRPr sz="4400" kern="1200">
          <a:solidFill>
            <a:srgbClr val="000000"/>
          </a:solidFill>
          <a:latin typeface="+mj-lt"/>
          <a:ea typeface="+mj-ea"/>
          <a:cs typeface="+mj-cs"/>
          <a:sym typeface="Calibri Light" panose="020F0302020204030204" pitchFamily="34" charset="0"/>
        </a:defRPr>
      </a:lvl1pPr>
      <a:lvl2pPr algn="l" rtl="0" eaLnBrk="0" fontAlgn="base" hangingPunct="0">
        <a:lnSpc>
          <a:spcPct val="90000"/>
        </a:lnSpc>
        <a:spcBef>
          <a:spcPct val="0"/>
        </a:spcBef>
        <a:spcAft>
          <a:spcPct val="0"/>
        </a:spcAft>
        <a:defRPr sz="4400">
          <a:solidFill>
            <a:srgbClr val="000000"/>
          </a:solidFill>
          <a:latin typeface="Calibri Light" panose="020F0302020204030204" pitchFamily="34" charset="0"/>
          <a:cs typeface="Calibri Light" panose="020F0302020204030204" pitchFamily="34" charset="0"/>
          <a:sym typeface="Calibri Light" panose="020F0302020204030204" pitchFamily="34" charset="0"/>
        </a:defRPr>
      </a:lvl2pPr>
      <a:lvl3pPr algn="l" rtl="0" eaLnBrk="0" fontAlgn="base" hangingPunct="0">
        <a:lnSpc>
          <a:spcPct val="90000"/>
        </a:lnSpc>
        <a:spcBef>
          <a:spcPct val="0"/>
        </a:spcBef>
        <a:spcAft>
          <a:spcPct val="0"/>
        </a:spcAft>
        <a:defRPr sz="4400">
          <a:solidFill>
            <a:srgbClr val="000000"/>
          </a:solidFill>
          <a:latin typeface="Calibri Light" panose="020F0302020204030204" pitchFamily="34" charset="0"/>
          <a:cs typeface="Calibri Light" panose="020F0302020204030204" pitchFamily="34" charset="0"/>
          <a:sym typeface="Calibri Light" panose="020F0302020204030204" pitchFamily="34" charset="0"/>
        </a:defRPr>
      </a:lvl3pPr>
      <a:lvl4pPr algn="l" rtl="0" eaLnBrk="0" fontAlgn="base" hangingPunct="0">
        <a:lnSpc>
          <a:spcPct val="90000"/>
        </a:lnSpc>
        <a:spcBef>
          <a:spcPct val="0"/>
        </a:spcBef>
        <a:spcAft>
          <a:spcPct val="0"/>
        </a:spcAft>
        <a:defRPr sz="4400">
          <a:solidFill>
            <a:srgbClr val="000000"/>
          </a:solidFill>
          <a:latin typeface="Calibri Light" panose="020F0302020204030204" pitchFamily="34" charset="0"/>
          <a:cs typeface="Calibri Light" panose="020F0302020204030204" pitchFamily="34" charset="0"/>
          <a:sym typeface="Calibri Light" panose="020F0302020204030204" pitchFamily="34" charset="0"/>
        </a:defRPr>
      </a:lvl4pPr>
      <a:lvl5pPr algn="l" rtl="0" eaLnBrk="0" fontAlgn="base" hangingPunct="0">
        <a:lnSpc>
          <a:spcPct val="90000"/>
        </a:lnSpc>
        <a:spcBef>
          <a:spcPct val="0"/>
        </a:spcBef>
        <a:spcAft>
          <a:spcPct val="0"/>
        </a:spcAft>
        <a:defRPr sz="4400">
          <a:solidFill>
            <a:srgbClr val="000000"/>
          </a:solidFill>
          <a:latin typeface="Calibri Light" panose="020F0302020204030204" pitchFamily="34" charset="0"/>
          <a:cs typeface="Calibri Light" panose="020F0302020204030204" pitchFamily="34" charset="0"/>
          <a:sym typeface="Calibri Light" panose="020F0302020204030204" pitchFamily="34" charset="0"/>
        </a:defRPr>
      </a:lvl5pPr>
      <a:lvl6pPr marL="457200" algn="l" rtl="0" fontAlgn="base" hangingPunct="0">
        <a:lnSpc>
          <a:spcPct val="90000"/>
        </a:lnSpc>
        <a:spcBef>
          <a:spcPct val="0"/>
        </a:spcBef>
        <a:spcAft>
          <a:spcPct val="0"/>
        </a:spcAft>
        <a:defRPr sz="4400">
          <a:solidFill>
            <a:srgbClr val="000000"/>
          </a:solidFill>
          <a:latin typeface="Calibri Light" panose="020F0302020204030204" pitchFamily="34" charset="0"/>
          <a:cs typeface="Calibri Light" panose="020F0302020204030204" pitchFamily="34" charset="0"/>
          <a:sym typeface="Calibri Light" panose="020F0302020204030204" pitchFamily="34" charset="0"/>
        </a:defRPr>
      </a:lvl6pPr>
      <a:lvl7pPr marL="914400" algn="l" rtl="0" fontAlgn="base" hangingPunct="0">
        <a:lnSpc>
          <a:spcPct val="90000"/>
        </a:lnSpc>
        <a:spcBef>
          <a:spcPct val="0"/>
        </a:spcBef>
        <a:spcAft>
          <a:spcPct val="0"/>
        </a:spcAft>
        <a:defRPr sz="4400">
          <a:solidFill>
            <a:srgbClr val="000000"/>
          </a:solidFill>
          <a:latin typeface="Calibri Light" panose="020F0302020204030204" pitchFamily="34" charset="0"/>
          <a:cs typeface="Calibri Light" panose="020F0302020204030204" pitchFamily="34" charset="0"/>
          <a:sym typeface="Calibri Light" panose="020F0302020204030204" pitchFamily="34" charset="0"/>
        </a:defRPr>
      </a:lvl7pPr>
      <a:lvl8pPr marL="1371600" algn="l" rtl="0" fontAlgn="base" hangingPunct="0">
        <a:lnSpc>
          <a:spcPct val="90000"/>
        </a:lnSpc>
        <a:spcBef>
          <a:spcPct val="0"/>
        </a:spcBef>
        <a:spcAft>
          <a:spcPct val="0"/>
        </a:spcAft>
        <a:defRPr sz="4400">
          <a:solidFill>
            <a:srgbClr val="000000"/>
          </a:solidFill>
          <a:latin typeface="Calibri Light" panose="020F0302020204030204" pitchFamily="34" charset="0"/>
          <a:cs typeface="Calibri Light" panose="020F0302020204030204" pitchFamily="34" charset="0"/>
          <a:sym typeface="Calibri Light" panose="020F0302020204030204" pitchFamily="34" charset="0"/>
        </a:defRPr>
      </a:lvl8pPr>
      <a:lvl9pPr marL="1828800" algn="l" rtl="0" fontAlgn="base" hangingPunct="0">
        <a:lnSpc>
          <a:spcPct val="90000"/>
        </a:lnSpc>
        <a:spcBef>
          <a:spcPct val="0"/>
        </a:spcBef>
        <a:spcAft>
          <a:spcPct val="0"/>
        </a:spcAft>
        <a:defRPr sz="4400">
          <a:solidFill>
            <a:srgbClr val="000000"/>
          </a:solidFill>
          <a:latin typeface="Calibri Light" panose="020F0302020204030204" pitchFamily="34" charset="0"/>
          <a:cs typeface="Calibri Light" panose="020F0302020204030204" pitchFamily="34" charset="0"/>
          <a:sym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SzPct val="100000"/>
        <a:buFont typeface="Arial" panose="020B0604020202020204" pitchFamily="34" charset="0"/>
        <a:buChar char="•"/>
        <a:defRPr sz="2800" kern="1200">
          <a:solidFill>
            <a:srgbClr val="000000"/>
          </a:solidFill>
          <a:latin typeface="+mn-lt"/>
          <a:ea typeface="+mn-ea"/>
          <a:cs typeface="+mn-cs"/>
          <a:sym typeface="Calibri" panose="020F0502020204030204" pitchFamily="34" charset="0"/>
        </a:defRPr>
      </a:lvl1pPr>
      <a:lvl2pPr marL="871855" indent="-414655" algn="l" rtl="0" eaLnBrk="0" fontAlgn="base" hangingPunct="0">
        <a:lnSpc>
          <a:spcPct val="90000"/>
        </a:lnSpc>
        <a:spcBef>
          <a:spcPts val="1000"/>
        </a:spcBef>
        <a:spcAft>
          <a:spcPct val="0"/>
        </a:spcAft>
        <a:buSzPct val="100000"/>
        <a:buFont typeface="Arial" panose="020B0604020202020204" pitchFamily="34" charset="0"/>
        <a:buChar char="•"/>
        <a:defRPr sz="2800" kern="1200">
          <a:solidFill>
            <a:srgbClr val="000000"/>
          </a:solidFill>
          <a:latin typeface="+mn-lt"/>
          <a:ea typeface="+mn-ea"/>
          <a:cs typeface="+mn-cs"/>
          <a:sym typeface="Calibri" panose="020F0502020204030204" pitchFamily="34" charset="0"/>
        </a:defRPr>
      </a:lvl2pPr>
      <a:lvl3pPr marL="1409700" indent="-495300" algn="l" rtl="0" eaLnBrk="0" fontAlgn="base" hangingPunct="0">
        <a:lnSpc>
          <a:spcPct val="90000"/>
        </a:lnSpc>
        <a:spcBef>
          <a:spcPts val="1000"/>
        </a:spcBef>
        <a:spcAft>
          <a:spcPct val="0"/>
        </a:spcAft>
        <a:buSzPct val="100000"/>
        <a:buFont typeface="Arial" panose="020B0604020202020204" pitchFamily="34" charset="0"/>
        <a:buChar char="•"/>
        <a:defRPr sz="2800" kern="1200">
          <a:solidFill>
            <a:srgbClr val="000000"/>
          </a:solidFill>
          <a:latin typeface="+mn-lt"/>
          <a:ea typeface="+mn-ea"/>
          <a:cs typeface="+mn-cs"/>
          <a:sym typeface="Calibri" panose="020F0502020204030204" pitchFamily="34" charset="0"/>
        </a:defRPr>
      </a:lvl3pPr>
      <a:lvl4pPr marL="1924050" indent="-552450" algn="l" rtl="0" eaLnBrk="0" fontAlgn="base" hangingPunct="0">
        <a:lnSpc>
          <a:spcPct val="90000"/>
        </a:lnSpc>
        <a:spcBef>
          <a:spcPts val="1000"/>
        </a:spcBef>
        <a:spcAft>
          <a:spcPct val="0"/>
        </a:spcAft>
        <a:buSzPct val="100000"/>
        <a:buFont typeface="Arial" panose="020B0604020202020204" pitchFamily="34" charset="0"/>
        <a:buChar char="•"/>
        <a:defRPr sz="2800" kern="1200">
          <a:solidFill>
            <a:srgbClr val="000000"/>
          </a:solidFill>
          <a:latin typeface="+mn-lt"/>
          <a:ea typeface="+mn-ea"/>
          <a:cs typeface="+mn-cs"/>
          <a:sym typeface="Calibri" panose="020F0502020204030204" pitchFamily="34" charset="0"/>
        </a:defRPr>
      </a:lvl4pPr>
      <a:lvl5pPr marL="2381250" indent="-552450" algn="l" rtl="0" eaLnBrk="0" fontAlgn="base" hangingPunct="0">
        <a:lnSpc>
          <a:spcPct val="90000"/>
        </a:lnSpc>
        <a:spcBef>
          <a:spcPts val="1000"/>
        </a:spcBef>
        <a:spcAft>
          <a:spcPct val="0"/>
        </a:spcAft>
        <a:buSzPct val="100000"/>
        <a:buFont typeface="Arial" panose="020B0604020202020204" pitchFamily="34" charset="0"/>
        <a:buChar char="•"/>
        <a:defRPr sz="2800" kern="1200">
          <a:solidFill>
            <a:srgbClr val="000000"/>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descr="Title 1"/>
          <p:cNvSpPr>
            <a:spLocks noGrp="1"/>
          </p:cNvSpPr>
          <p:nvPr>
            <p:ph type="title"/>
          </p:nvPr>
        </p:nvSpPr>
        <p:spPr>
          <a:xfrm>
            <a:off x="838200" y="365125"/>
            <a:ext cx="10515600" cy="1748790"/>
          </a:xfrm>
        </p:spPr>
        <p:txBody>
          <a:bodyPr vert="horz" wrap="square" lIns="45720" tIns="45720" rIns="45720" bIns="45720" anchor="ctr" anchorCtr="0"/>
          <a:lstStyle/>
          <a:p>
            <a:pPr algn="ctr" defTabSz="457200" eaLnBrk="1">
              <a:lnSpc>
                <a:spcPct val="100000"/>
              </a:lnSpc>
            </a:pPr>
            <a:r>
              <a:rPr lang="en-US" altLang="en-US" dirty="0">
                <a:latin typeface="Times Roman" charset="0"/>
                <a:sym typeface="Times Roman" charset="0"/>
              </a:rPr>
              <a:t>   </a:t>
            </a:r>
            <a:r>
              <a:rPr lang="en-US" altLang="en-US" b="1" dirty="0">
                <a:latin typeface="Times New Roman" panose="02020603050405020304" pitchFamily="18" charset="0"/>
                <a:cs typeface="Times New Roman" panose="02020603050405020304" pitchFamily="18" charset="0"/>
                <a:sym typeface="Times Roman" charset="0"/>
              </a:rPr>
              <a:t>Diabetic Retinopathy Detection and                   Classification using Deep learning </a:t>
            </a:r>
          </a:p>
        </p:txBody>
      </p:sp>
      <p:sp>
        <p:nvSpPr>
          <p:cNvPr id="3075" name="Rectangle 2" descr="Content Placeholder 2"/>
          <p:cNvSpPr>
            <a:spLocks noGrp="1"/>
          </p:cNvSpPr>
          <p:nvPr>
            <p:ph sz="half" idx="1"/>
          </p:nvPr>
        </p:nvSpPr>
        <p:spPr>
          <a:xfrm>
            <a:off x="3295015" y="1825625"/>
            <a:ext cx="5970905" cy="4351655"/>
          </a:xfrm>
        </p:spPr>
        <p:txBody>
          <a:bodyPr vert="horz" wrap="square" lIns="45720" tIns="45720" rIns="45720" bIns="45720" anchor="t" anchorCtr="0"/>
          <a:lstStyle/>
          <a:p>
            <a:pPr marL="0" indent="0" eaLnBrk="1">
              <a:buNone/>
            </a:pPr>
            <a:endParaRPr lang="en-US" altLang="en-US" sz="25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eaLnBrk="1">
              <a:buNone/>
            </a:pPr>
            <a:r>
              <a:rPr lang="en-US" altLang="en-IN" sz="3600" dirty="0">
                <a:latin typeface="Times New Roman" panose="02020603050405020304" pitchFamily="18" charset="0"/>
                <a:cs typeface="Times New Roman" panose="02020603050405020304" pitchFamily="18" charset="0"/>
                <a:sym typeface="Times New Roman" panose="02020603050405020304" pitchFamily="18" charset="0"/>
              </a:rPr>
              <a:t>          </a:t>
            </a:r>
            <a:r>
              <a:rPr lang="en-IN" altLang="en-US" sz="3600" dirty="0">
                <a:latin typeface="Times New Roman" panose="02020603050405020304" pitchFamily="18" charset="0"/>
                <a:cs typeface="Times New Roman" panose="02020603050405020304" pitchFamily="18" charset="0"/>
                <a:sym typeface="Times New Roman" panose="02020603050405020304" pitchFamily="18" charset="0"/>
              </a:rPr>
              <a:t>Presented by</a:t>
            </a:r>
            <a:r>
              <a:rPr lang="en-US" altLang="en-IN" sz="3600" dirty="0">
                <a:latin typeface="Times New Roman" panose="02020603050405020304" pitchFamily="18" charset="0"/>
                <a:cs typeface="Times New Roman" panose="02020603050405020304" pitchFamily="18" charset="0"/>
                <a:sym typeface="Times New Roman" panose="02020603050405020304" pitchFamily="18" charset="0"/>
              </a:rPr>
              <a:t>:</a:t>
            </a:r>
          </a:p>
          <a:p>
            <a:pPr marL="0" indent="0" eaLnBrk="1">
              <a:buNone/>
            </a:pPr>
            <a:r>
              <a:rPr lang="en-IN" altLang="en-US" sz="2400" dirty="0"/>
              <a:t>Pidugu Sai Prasanna(245622733114) </a:t>
            </a:r>
          </a:p>
          <a:p>
            <a:pPr marL="0" indent="0" eaLnBrk="1">
              <a:buNone/>
            </a:pPr>
            <a:r>
              <a:rPr lang="en-IN" altLang="en-US" sz="2400" dirty="0"/>
              <a:t>Bokinala Reshmitha(245622733076)</a:t>
            </a:r>
          </a:p>
          <a:p>
            <a:pPr marL="0" indent="0" eaLnBrk="1">
              <a:buNone/>
            </a:pPr>
            <a:r>
              <a:rPr lang="en-IN" altLang="en-US" sz="2400" dirty="0"/>
              <a:t>Kyatham Pranathi(245622733309)</a:t>
            </a:r>
          </a:p>
          <a:p>
            <a:pPr marL="0" indent="0" eaLnBrk="1">
              <a:buNone/>
            </a:pPr>
            <a:endParaRPr lang="en-IN" altLang="en-US" sz="2400" dirty="0"/>
          </a:p>
          <a:p>
            <a:pPr marL="0" indent="0" eaLnBrk="1">
              <a:buNone/>
            </a:pPr>
            <a:r>
              <a:rPr lang="en-IN" altLang="en-US" sz="3600" dirty="0">
                <a:latin typeface="Times New Roman" panose="02020603050405020304" pitchFamily="18" charset="0"/>
                <a:cs typeface="Times New Roman" panose="02020603050405020304" pitchFamily="18" charset="0"/>
                <a:sym typeface="Times New Roman" panose="02020603050405020304" pitchFamily="18" charset="0"/>
              </a:rPr>
              <a:t>Name of the Guide:</a:t>
            </a:r>
          </a:p>
          <a:p>
            <a:pPr marL="0" indent="0" eaLnBrk="1">
              <a:buNone/>
            </a:pPr>
            <a:r>
              <a:rPr lang="en-US" altLang="en-IN" sz="2400" dirty="0">
                <a:latin typeface="Times New Roman" panose="02020603050405020304" pitchFamily="18" charset="0"/>
                <a:cs typeface="Times New Roman" panose="02020603050405020304" pitchFamily="18" charset="0"/>
                <a:sym typeface="Times New Roman" panose="02020603050405020304" pitchFamily="18" charset="0"/>
              </a:rPr>
              <a:t>           </a:t>
            </a:r>
            <a:r>
              <a:rPr lang="en-IN" altLang="en-US" sz="2400" dirty="0">
                <a:latin typeface="Times New Roman" panose="02020603050405020304" pitchFamily="18" charset="0"/>
                <a:cs typeface="Times New Roman" panose="02020603050405020304" pitchFamily="18" charset="0"/>
                <a:sym typeface="Times New Roman" panose="02020603050405020304" pitchFamily="18" charset="0"/>
              </a:rPr>
              <a:t>Mrs S PALLAVI</a:t>
            </a:r>
            <a:endParaRPr lang="en-IN" altLang="en-US" sz="2400" dirty="0">
              <a:latin typeface="Times New Roman" panose="02020603050405020304" pitchFamily="18" charset="0"/>
              <a:ea typeface="Times New Roman" panose="02020603050405020304" pitchFamily="18" charset="0"/>
              <a:sym typeface="Times New Roman" panose="02020603050405020304" pitchFamily="18" charset="0"/>
            </a:endParaRPr>
          </a:p>
        </p:txBody>
      </p:sp>
      <p:pic>
        <p:nvPicPr>
          <p:cNvPr id="4" name="Content Placeholder 3"/>
          <p:cNvPicPr>
            <a:picLocks noGrp="1" noChangeAspect="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551384" y="355318"/>
            <a:ext cx="1365250" cy="1468755"/>
          </a:xfrm>
          <a:prstGeom prst="rect">
            <a:avLst/>
          </a:prstGeom>
          <a:noFill/>
          <a:ln>
            <a:noFill/>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descr="Title 1"/>
          <p:cNvSpPr>
            <a:spLocks noGrp="1"/>
          </p:cNvSpPr>
          <p:nvPr>
            <p:ph type="title"/>
          </p:nvPr>
        </p:nvSpPr>
        <p:spPr>
          <a:xfrm>
            <a:off x="693738" y="0"/>
            <a:ext cx="10515600" cy="1325563"/>
          </a:xfrm>
        </p:spPr>
        <p:txBody>
          <a:bodyPr vert="horz" wrap="square" lIns="45720" tIns="45720" rIns="45720" bIns="45720" anchor="ctr" anchorCtr="0"/>
          <a:lstStyle/>
          <a:p>
            <a:pPr algn="ctr" eaLnBrk="1"/>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ABSTRACT</a:t>
            </a:r>
            <a:endParaRPr lang="en-US" altLang="en-US" dirty="0">
              <a:latin typeface="Times New Roman" panose="02020603050405020304" pitchFamily="18" charset="0"/>
              <a:ea typeface="Times New Roman" panose="02020603050405020304" pitchFamily="18" charset="0"/>
              <a:sym typeface="Times New Roman" panose="02020603050405020304" pitchFamily="18" charset="0"/>
            </a:endParaRPr>
          </a:p>
        </p:txBody>
      </p:sp>
      <p:sp>
        <p:nvSpPr>
          <p:cNvPr id="5124" name="Rectangle 3" descr="Content Placeholder 2"/>
          <p:cNvSpPr>
            <a:spLocks noGrp="1"/>
          </p:cNvSpPr>
          <p:nvPr>
            <p:ph idx="1"/>
          </p:nvPr>
        </p:nvSpPr>
        <p:spPr>
          <a:xfrm>
            <a:off x="693738" y="1700808"/>
            <a:ext cx="11018886" cy="4503896"/>
          </a:xfrm>
        </p:spPr>
        <p:txBody>
          <a:bodyPr vert="horz" wrap="square" lIns="45720" tIns="45720" rIns="45720" bIns="45720" anchor="t" anchorCtr="0"/>
          <a:lstStyle/>
          <a:p>
            <a:pPr marL="0" indent="0" algn="just" defTabSz="396875" eaLnBrk="1">
              <a:lnSpc>
                <a:spcPct val="150000"/>
              </a:lnSpc>
              <a:buSzTx/>
              <a:buNone/>
            </a:pPr>
            <a:r>
              <a:rPr lang="en-US" sz="1800" dirty="0">
                <a:latin typeface="Times New Roman" panose="02020603050405020304" pitchFamily="18" charset="0"/>
                <a:cs typeface="Times New Roman" panose="02020603050405020304" pitchFamily="18" charset="0"/>
              </a:rPr>
              <a:t>Diabetic Retinopathy (DR) is a severe diabetes-related eye disease that can cause vision loss or blindness if not detected early. Traditional diagnosis relies on manual examination of retinal fundus images, which is time-consuming and prone to variability. This project presents an automated deep learning-based system for detection and classification of DR. In the detection stage, advanced object detection models such as Faster R-CNN or YOLO 8 are used to identify pathological features like microaneurysms, hemorrhages, and exudates in retinal images. In the classification stage, a Convolutional Neural Network (CNN) classifies the severity of DR into five stages (0–4) based on the detected lesions. The system employs image preprocessing techniques, including noise reduction, normalization, and contrast enhancement, along with data augmentation to improve model accuracy and generalization. Experimental results demonstrate that this dual-stage approach achieves high accuracy, sensitivity, and specificity, providing a reliable and scalable tool for early DR screening and aiding ophthalmologists in clinical decision-making.</a:t>
            </a:r>
          </a:p>
          <a:p>
            <a:pPr marL="0" indent="0" algn="just" defTabSz="396875" eaLnBrk="1">
              <a:lnSpc>
                <a:spcPct val="100000"/>
              </a:lnSpc>
              <a:buSzTx/>
              <a:buNone/>
            </a:pPr>
            <a:endParaRPr lang="en-US" altLang="en-US" sz="1800" dirty="0">
              <a:latin typeface="Times New Roman" panose="02020603050405020304" pitchFamily="18" charset="0"/>
              <a:ea typeface="Times New Roman" panose="02020603050405020304" pitchFamily="18" charset="0"/>
              <a:sym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279576" y="75406"/>
            <a:ext cx="1160145" cy="1174750"/>
          </a:xfrm>
          <a:prstGeom prst="rect">
            <a:avLst/>
          </a:prstGeom>
          <a:noFill/>
          <a:ln>
            <a:noFill/>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F86A17-F3C4-5507-38AC-F3B3663F575E}"/>
              </a:ext>
            </a:extLst>
          </p:cNvPr>
          <p:cNvSpPr txBox="1"/>
          <p:nvPr/>
        </p:nvSpPr>
        <p:spPr>
          <a:xfrm>
            <a:off x="2927648" y="620688"/>
            <a:ext cx="7824192" cy="769441"/>
          </a:xfrm>
          <a:prstGeom prst="rect">
            <a:avLst/>
          </a:prstGeom>
          <a:noFill/>
        </p:spPr>
        <p:txBody>
          <a:bodyPr wrap="square">
            <a:spAutoFit/>
          </a:bodyPr>
          <a:lstStyle/>
          <a:p>
            <a:r>
              <a:rPr lang="en-US" altLang="en-US" sz="4400" dirty="0">
                <a:latin typeface="Times New Roman" panose="02020603050405020304" pitchFamily="18" charset="0"/>
                <a:cs typeface="Times New Roman" panose="02020603050405020304" pitchFamily="18" charset="0"/>
              </a:rPr>
              <a:t>    PROBLEM STATEMENT</a:t>
            </a:r>
            <a:endParaRPr lang="en-IN" sz="4400" dirty="0"/>
          </a:p>
        </p:txBody>
      </p:sp>
      <p:pic>
        <p:nvPicPr>
          <p:cNvPr id="4" name="Picture 3">
            <a:extLst>
              <a:ext uri="{FF2B5EF4-FFF2-40B4-BE49-F238E27FC236}">
                <a16:creationId xmlns:a16="http://schemas.microsoft.com/office/drawing/2014/main" id="{5B470489-6677-6080-B3DD-A2321069B27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631504" y="332656"/>
            <a:ext cx="1160145" cy="1174750"/>
          </a:xfrm>
          <a:prstGeom prst="rect">
            <a:avLst/>
          </a:prstGeom>
          <a:noFill/>
          <a:ln>
            <a:noFill/>
          </a:ln>
        </p:spPr>
      </p:pic>
      <p:sp>
        <p:nvSpPr>
          <p:cNvPr id="6" name="TextBox 5">
            <a:extLst>
              <a:ext uri="{FF2B5EF4-FFF2-40B4-BE49-F238E27FC236}">
                <a16:creationId xmlns:a16="http://schemas.microsoft.com/office/drawing/2014/main" id="{E37F7EFA-F19D-0810-2710-555C5671B9A4}"/>
              </a:ext>
            </a:extLst>
          </p:cNvPr>
          <p:cNvSpPr txBox="1"/>
          <p:nvPr/>
        </p:nvSpPr>
        <p:spPr>
          <a:xfrm>
            <a:off x="911424" y="2060848"/>
            <a:ext cx="10585176" cy="4191981"/>
          </a:xfrm>
          <a:prstGeom prst="rect">
            <a:avLst/>
          </a:prstGeom>
          <a:noFill/>
        </p:spPr>
        <p:txBody>
          <a:bodyPr wrap="square">
            <a:spAutoFit/>
          </a:bodyPr>
          <a:lstStyle/>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Diabetic Retinopathy (DR) is a progressive eye disease caused by complications of diabetes and is </a:t>
            </a:r>
          </a:p>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a leading cause of preventable blindness. Early detection is crucial for effective treatment, yet </a:t>
            </a:r>
          </a:p>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traditional diagnosis through manual examination of retinal fundus images is time-consuming, prone </a:t>
            </a:r>
          </a:p>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to human error, and inaccessible in many under-resourced areas. Additionally, medical image </a:t>
            </a:r>
          </a:p>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datasets often suffer from class imbalance and quality variation, making automated detection </a:t>
            </a:r>
          </a:p>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challenging. To address these issues, there is a need for an intelligent, automated system that </a:t>
            </a:r>
          </a:p>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leverages both machine learning and deep learning techniques to accurately detect and classify the</a:t>
            </a:r>
          </a:p>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severity of DR. Such a system can enhance screening efficiency, support ophthalmologists, and </a:t>
            </a:r>
          </a:p>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enable timely interventions to reduce vision loss risks.</a:t>
            </a:r>
          </a:p>
        </p:txBody>
      </p:sp>
    </p:spTree>
    <p:extLst>
      <p:ext uri="{BB962C8B-B14F-4D97-AF65-F5344CB8AC3E}">
        <p14:creationId xmlns:p14="http://schemas.microsoft.com/office/powerpoint/2010/main" val="478848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descr="Title 1"/>
          <p:cNvSpPr>
            <a:spLocks noGrp="1"/>
          </p:cNvSpPr>
          <p:nvPr>
            <p:ph type="title"/>
          </p:nvPr>
        </p:nvSpPr>
        <p:spPr>
          <a:xfrm>
            <a:off x="946150" y="0"/>
            <a:ext cx="10515600" cy="1325563"/>
          </a:xfrm>
        </p:spPr>
        <p:txBody>
          <a:bodyPr vert="horz" wrap="square" lIns="45720" tIns="45720" rIns="45720" bIns="45720" anchor="ctr" anchorCtr="0"/>
          <a:lstStyle/>
          <a:p>
            <a:pPr algn="ctr" eaLnBrk="1"/>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Requirements</a:t>
            </a:r>
            <a:endParaRPr lang="en-US" altLang="en-US" dirty="0">
              <a:latin typeface="Times New Roman" panose="02020603050405020304" pitchFamily="18" charset="0"/>
              <a:ea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4" name="Rectangle 7"/>
          <p:cNvSpPr>
            <a:spLocks noGrp="1"/>
          </p:cNvSpPr>
          <p:nvPr>
            <p:ph idx="1"/>
          </p:nvPr>
        </p:nvSpPr>
        <p:spPr>
          <a:xfrm>
            <a:off x="300038" y="1400601"/>
            <a:ext cx="11591925" cy="4783874"/>
          </a:xfrm>
        </p:spPr>
        <p:txBody>
          <a:bodyPr vert="horz" wrap="square" lIns="45720" tIns="45720" rIns="45720" bIns="45720" numCol="1" anchor="ctr" anchorCtr="0" compatLnSpc="1">
            <a:spAutoFit/>
          </a:bodyPr>
          <a:lstStyle/>
          <a:p>
            <a:pPr marL="0" marR="0" lvl="0" indent="0" algn="l" defTabSz="914400" rtl="0" eaLnBrk="1" fontAlgn="base" latinLnBrk="0" hangingPunct="0">
              <a:lnSpc>
                <a:spcPct val="100000"/>
              </a:lnSpc>
              <a:spcBef>
                <a:spcPct val="0"/>
              </a:spcBef>
              <a:spcAft>
                <a:spcPct val="0"/>
              </a:spcAft>
              <a:buClrTx/>
              <a:buSzTx/>
              <a:buFontTx/>
              <a:buNone/>
              <a:defRPr/>
            </a:pPr>
            <a:r>
              <a:rPr kumimoji="0" lang="en-US" altLang="en-US" sz="24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Hardware Requirements</a:t>
            </a:r>
          </a:p>
          <a:p>
            <a:pPr marL="228600" marR="0" lvl="0"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Processor</a:t>
            </a:r>
            <a:r>
              <a:rPr kumimoji="0" lang="en-US" altLang="en-US"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:Intel(R) Core(TM) i3-10110U CPU @ 2.10GHz 2.59GHz or higher </a:t>
            </a:r>
          </a:p>
          <a:p>
            <a:pPr marL="228600" marR="0" lvl="0"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RAM</a:t>
            </a:r>
            <a:r>
              <a:rPr kumimoji="0" lang="en-US" altLang="en-US"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 8 GB </a:t>
            </a:r>
          </a:p>
          <a:p>
            <a:pPr marL="228600" marR="0" lvl="0"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Operating System</a:t>
            </a:r>
            <a:r>
              <a:rPr kumimoji="0" lang="en-US" altLang="en-US"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 64-bit, x64-based processor </a:t>
            </a:r>
          </a:p>
          <a:p>
            <a:pPr marL="228600" marR="0" lvl="0"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Input/Output Devices</a:t>
            </a:r>
            <a:r>
              <a:rPr kumimoji="0" lang="en-US" altLang="en-US"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 Keyboard, Mouse, Monitor </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en-US"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24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Software Requirements</a:t>
            </a:r>
          </a:p>
          <a:p>
            <a:pPr marL="228600" marR="0" lvl="0" indent="-228600" algn="l" defTabSz="914400" rtl="0" eaLnBrk="1" fontAlgn="base" latinLnBrk="0" hangingPunct="0">
              <a:lnSpc>
                <a:spcPct val="90000"/>
              </a:lnSpc>
              <a:spcBef>
                <a:spcPts val="1000"/>
              </a:spcBef>
              <a:spcAft>
                <a:spcPct val="0"/>
              </a:spcAft>
              <a:buClrTx/>
              <a:buSzPct val="100000"/>
              <a:buFont typeface="Arial" panose="020B0604020202020204" pitchFamily="34" charset="0"/>
              <a:buChar char="•"/>
              <a:defRPr/>
            </a:pPr>
            <a:r>
              <a:rPr kumimoji="0" lang="en-IN"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Programming Languages:  </a:t>
            </a:r>
            <a:r>
              <a:rPr kumimoji="0" lang="en-IN" sz="200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Python</a:t>
            </a:r>
            <a:r>
              <a:rPr kumimoji="0" lang="en-US" altLang="en-IN" sz="200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a:t>
            </a:r>
            <a:r>
              <a:rPr kumimoji="0" lang="en-IN"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For Machine Learning and data </a:t>
            </a:r>
            <a:r>
              <a:rPr kumimoji="0" lang="en-IN" sz="2000" b="0"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rPr>
              <a:t>analysis</a:t>
            </a:r>
            <a:r>
              <a:rPr kumimoji="0" lang="en-US" altLang="en-IN" sz="2000" b="0"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rPr>
              <a:t>)</a:t>
            </a:r>
            <a:endParaRPr kumimoji="0" lang="en-IN" sz="2000" b="0"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endParaRPr>
          </a:p>
          <a:p>
            <a:pPr marL="228600" marR="0" lvl="0" indent="-228600" algn="l" defTabSz="914400" rtl="0" eaLnBrk="1" fontAlgn="base" latinLnBrk="0" hangingPunct="0">
              <a:lnSpc>
                <a:spcPct val="90000"/>
              </a:lnSpc>
              <a:spcBef>
                <a:spcPts val="1000"/>
              </a:spcBef>
              <a:spcAft>
                <a:spcPct val="0"/>
              </a:spcAft>
              <a:buClrTx/>
              <a:buSzPct val="100000"/>
              <a:buFont typeface="Arial" panose="020B0604020202020204" pitchFamily="34" charset="0"/>
              <a:buChar char="•"/>
              <a:defRPr/>
            </a:pPr>
            <a:r>
              <a:rPr kumimoji="0" lang="en-US" altLang="en-US"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Web Framework: </a:t>
            </a:r>
            <a:r>
              <a:rPr kumimoji="0" lang="en-US" altLang="en-US" sz="200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Flask,</a:t>
            </a:r>
            <a:r>
              <a:rPr lang="en-IN" sz="2000" noProof="0" dirty="0" err="1">
                <a:ln>
                  <a:noFill/>
                </a:ln>
                <a:effectLst/>
                <a:uLnTx/>
                <a:uFillTx/>
                <a:sym typeface="Calibri" panose="020F0502020204030204" pitchFamily="34" charset="0"/>
              </a:rPr>
              <a:t>JavaScript</a:t>
            </a:r>
            <a:r>
              <a:rPr lang="en-US" altLang="en-IN" sz="2000" noProof="0" dirty="0" err="1">
                <a:ln>
                  <a:noFill/>
                </a:ln>
                <a:effectLst/>
                <a:uLnTx/>
                <a:uFillTx/>
                <a:sym typeface="Calibri" panose="020F0502020204030204" pitchFamily="34" charset="0"/>
              </a:rPr>
              <a:t>,HTML,CSS</a:t>
            </a:r>
            <a:endParaRPr kumimoji="0" lang="en-US" altLang="en-US"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endParaRPr>
          </a:p>
          <a:p>
            <a:pPr marL="228600" marR="0" lvl="0" indent="-228600" algn="l" defTabSz="914400" rtl="0" eaLnBrk="1" fontAlgn="base" latinLnBrk="0" hangingPunct="0">
              <a:lnSpc>
                <a:spcPct val="90000"/>
              </a:lnSpc>
              <a:spcBef>
                <a:spcPts val="1000"/>
              </a:spcBef>
              <a:spcAft>
                <a:spcPct val="0"/>
              </a:spcAft>
              <a:buClrTx/>
              <a:buSzPct val="100000"/>
              <a:buFont typeface="Arial" panose="020B0604020202020204" pitchFamily="34" charset="0"/>
              <a:buChar char="•"/>
              <a:defRPr/>
            </a:pPr>
            <a:r>
              <a:rPr kumimoji="0" lang="en-IN"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Database</a:t>
            </a:r>
            <a:r>
              <a:rPr kumimoji="0" lang="en-IN"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a:t>
            </a:r>
            <a:r>
              <a:rPr kumimoji="0" lang="en-US" altLang="en-US"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 MySQL</a:t>
            </a:r>
          </a:p>
          <a:p>
            <a:pPr lvl="0" eaLnBrk="1">
              <a:defRPr/>
            </a:pPr>
            <a:r>
              <a:rPr kumimoji="0" lang="en-IN"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Machine Learning </a:t>
            </a:r>
            <a:r>
              <a:rPr kumimoji="0" lang="en-IN" sz="2000" b="1"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rPr>
              <a:t>Libraries</a:t>
            </a:r>
            <a:r>
              <a:rPr kumimoji="0" lang="en-IN" sz="2000" b="0"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rPr>
              <a:t>:TensorFlow</a:t>
            </a:r>
            <a:r>
              <a:rPr kumimoji="0" lang="en-IN"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 </a:t>
            </a:r>
            <a:r>
              <a:rPr kumimoji="0" lang="en-IN" sz="2000" b="0"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rPr>
              <a:t>PyTorch</a:t>
            </a:r>
            <a:r>
              <a:rPr kumimoji="0" lang="en-IN"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a:t>
            </a:r>
            <a:r>
              <a:rPr kumimoji="0" lang="en-US" altLang="en-US"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NumPy,</a:t>
            </a:r>
            <a:r>
              <a:rPr kumimoji="0" lang="en-IN"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 Scikit-learn,</a:t>
            </a:r>
            <a:r>
              <a:rPr lang="en-IN" sz="2000" dirty="0"/>
              <a:t> YOLOv8 ,R-CNN</a:t>
            </a:r>
            <a:endParaRPr kumimoji="0" lang="en-IN"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endParaRPr>
          </a:p>
          <a:p>
            <a:pPr marL="228600" marR="0" lvl="0" indent="-228600" algn="l" defTabSz="914400" rtl="0" eaLnBrk="1" fontAlgn="base" latinLnBrk="0" hangingPunct="0">
              <a:lnSpc>
                <a:spcPct val="90000"/>
              </a:lnSpc>
              <a:spcBef>
                <a:spcPts val="1000"/>
              </a:spcBef>
              <a:spcAft>
                <a:spcPct val="0"/>
              </a:spcAft>
              <a:buClrTx/>
              <a:buSzPct val="100000"/>
              <a:buFont typeface="Arial" panose="020B0604020202020204" pitchFamily="34" charset="0"/>
              <a:buChar char="•"/>
              <a:defRPr/>
            </a:pPr>
            <a:r>
              <a:rPr kumimoji="0" lang="en-IN" sz="2000" b="1"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rPr>
              <a:t>Deep Learning </a:t>
            </a:r>
            <a:r>
              <a:rPr kumimoji="0" lang="en-IN" sz="2000" b="1"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rPr>
              <a:t>Models</a:t>
            </a:r>
            <a:r>
              <a:rPr kumimoji="0" lang="en-IN" sz="2000" b="0"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rPr>
              <a:t>:</a:t>
            </a:r>
            <a:r>
              <a:rPr kumimoji="0" lang="en-US" altLang="en-IN" sz="2000" b="0" i="0" u="none" strike="noStrike" kern="1200" cap="none" spc="0" normalizeH="0" baseline="0" noProof="0" dirty="0" err="1">
                <a:ln>
                  <a:noFill/>
                </a:ln>
                <a:solidFill>
                  <a:srgbClr val="000000"/>
                </a:solidFill>
                <a:effectLst/>
                <a:uLnTx/>
                <a:uFillTx/>
                <a:latin typeface="+mn-lt"/>
                <a:ea typeface="+mn-ea"/>
                <a:cs typeface="+mn-cs"/>
                <a:sym typeface="Calibri" panose="020F0502020204030204" pitchFamily="34" charset="0"/>
              </a:rPr>
              <a:t>Inception V3</a:t>
            </a:r>
            <a:endParaRPr kumimoji="0" lang="en-IN" sz="20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dirty="0">
              <a:ln>
                <a:noFill/>
              </a:ln>
              <a:solidFill>
                <a:srgbClr val="000000"/>
              </a:solidFill>
              <a:effectLst/>
              <a:uLnTx/>
              <a:uFillTx/>
              <a:latin typeface="+mn-lt"/>
              <a:ea typeface="+mn-ea"/>
              <a:cs typeface="+mn-cs"/>
              <a:sym typeface="Calibri" panose="020F0502020204030204" pitchFamily="34" charset="0"/>
            </a:endParaRPr>
          </a:p>
        </p:txBody>
      </p:sp>
      <p:pic>
        <p:nvPicPr>
          <p:cNvPr id="3" name="Picture 2">
            <a:extLst>
              <a:ext uri="{FF2B5EF4-FFF2-40B4-BE49-F238E27FC236}">
                <a16:creationId xmlns:a16="http://schemas.microsoft.com/office/drawing/2014/main" id="{1EAFA5F2-E38A-910F-5EA7-1C4A9672EF1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207568" y="30467"/>
            <a:ext cx="1160145" cy="1174750"/>
          </a:xfrm>
          <a:prstGeom prst="rect">
            <a:avLst/>
          </a:prstGeom>
          <a:noFill/>
          <a:ln>
            <a:noFill/>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9CA971-4E68-84A7-2FDF-1C987FF12436}"/>
              </a:ext>
            </a:extLst>
          </p:cNvPr>
          <p:cNvSpPr txBox="1"/>
          <p:nvPr/>
        </p:nvSpPr>
        <p:spPr>
          <a:xfrm>
            <a:off x="3215680" y="24388"/>
            <a:ext cx="6096000" cy="769441"/>
          </a:xfrm>
          <a:prstGeom prst="rect">
            <a:avLst/>
          </a:prstGeom>
          <a:noFill/>
        </p:spPr>
        <p:txBody>
          <a:bodyPr wrap="square">
            <a:spAutoFit/>
          </a:bodyPr>
          <a:lstStyle/>
          <a:p>
            <a:r>
              <a:rPr lang="en-US" altLang="en-US" sz="4400" dirty="0">
                <a:latin typeface="Times New Roman" panose="02020603050405020304" pitchFamily="18" charset="0"/>
                <a:cs typeface="Times New Roman" panose="02020603050405020304" pitchFamily="18" charset="0"/>
              </a:rPr>
              <a:t>Proposed Methodology</a:t>
            </a:r>
            <a:endParaRPr lang="en-IN" altLang="en-US" sz="4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7B96B5C-124F-3088-BB35-00EF4F78859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67408" y="0"/>
            <a:ext cx="1160145" cy="1174750"/>
          </a:xfrm>
          <a:prstGeom prst="rect">
            <a:avLst/>
          </a:prstGeom>
          <a:noFill/>
          <a:ln>
            <a:noFill/>
          </a:ln>
        </p:spPr>
      </p:pic>
      <p:sp>
        <p:nvSpPr>
          <p:cNvPr id="2" name="Rectangle 1">
            <a:extLst>
              <a:ext uri="{FF2B5EF4-FFF2-40B4-BE49-F238E27FC236}">
                <a16:creationId xmlns:a16="http://schemas.microsoft.com/office/drawing/2014/main" id="{81E4A428-5F6B-DEC6-B4AE-AD2CFD254572}"/>
              </a:ext>
            </a:extLst>
          </p:cNvPr>
          <p:cNvSpPr/>
          <p:nvPr/>
        </p:nvSpPr>
        <p:spPr bwMode="auto">
          <a:xfrm>
            <a:off x="4223792" y="908720"/>
            <a:ext cx="3024336"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solidFill>
                  <a:srgbClr val="000000"/>
                </a:solidFill>
                <a:latin typeface="Calibri" panose="020F0502020204030204" pitchFamily="34" charset="0"/>
                <a:cs typeface="Calibri" panose="020F0502020204030204" pitchFamily="34" charset="0"/>
              </a:rPr>
              <a:t>    Input Retinal Fundus Image</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6" name="Rectangle 5">
            <a:extLst>
              <a:ext uri="{FF2B5EF4-FFF2-40B4-BE49-F238E27FC236}">
                <a16:creationId xmlns:a16="http://schemas.microsoft.com/office/drawing/2014/main" id="{6A6B2B2C-D091-2623-A504-0A393E2A29E3}"/>
              </a:ext>
            </a:extLst>
          </p:cNvPr>
          <p:cNvSpPr/>
          <p:nvPr/>
        </p:nvSpPr>
        <p:spPr bwMode="auto">
          <a:xfrm>
            <a:off x="4403812" y="1628800"/>
            <a:ext cx="2664296"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solidFill>
                  <a:srgbClr val="000000"/>
                </a:solidFill>
                <a:latin typeface="Calibri" panose="020F0502020204030204" pitchFamily="34" charset="0"/>
                <a:cs typeface="Calibri" panose="020F0502020204030204" pitchFamily="34" charset="0"/>
              </a:rPr>
              <a:t>     Image Preprocessing</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7" name="Rectangle 6">
            <a:extLst>
              <a:ext uri="{FF2B5EF4-FFF2-40B4-BE49-F238E27FC236}">
                <a16:creationId xmlns:a16="http://schemas.microsoft.com/office/drawing/2014/main" id="{A618F739-095A-D742-8A73-FBC5136F5FB0}"/>
              </a:ext>
            </a:extLst>
          </p:cNvPr>
          <p:cNvSpPr/>
          <p:nvPr/>
        </p:nvSpPr>
        <p:spPr bwMode="auto">
          <a:xfrm>
            <a:off x="4413580" y="2348880"/>
            <a:ext cx="2664296"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solidFill>
                  <a:srgbClr val="000000"/>
                </a:solidFill>
                <a:latin typeface="Calibri" panose="020F0502020204030204" pitchFamily="34" charset="0"/>
                <a:cs typeface="Calibri" panose="020F0502020204030204" pitchFamily="34" charset="0"/>
              </a:rPr>
              <a:t>         Dataset Preparation</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8" name="Rectangle: Rounded Corners 7">
            <a:extLst>
              <a:ext uri="{FF2B5EF4-FFF2-40B4-BE49-F238E27FC236}">
                <a16:creationId xmlns:a16="http://schemas.microsoft.com/office/drawing/2014/main" id="{54889348-2F6F-CAD6-0510-037379741217}"/>
              </a:ext>
            </a:extLst>
          </p:cNvPr>
          <p:cNvSpPr/>
          <p:nvPr/>
        </p:nvSpPr>
        <p:spPr bwMode="auto">
          <a:xfrm>
            <a:off x="2711624" y="3359487"/>
            <a:ext cx="1692188" cy="715089"/>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solidFill>
                  <a:srgbClr val="000000"/>
                </a:solidFill>
                <a:latin typeface="Calibri" panose="020F0502020204030204" pitchFamily="34" charset="0"/>
                <a:cs typeface="Calibri" panose="020F0502020204030204" pitchFamily="34" charset="0"/>
              </a:rPr>
              <a:t>Training Phase</a:t>
            </a:r>
          </a:p>
          <a:p>
            <a:pPr eaLnBrk="1"/>
            <a:r>
              <a:rPr lang="en-IN" dirty="0">
                <a:solidFill>
                  <a:srgbClr val="000000"/>
                </a:solidFill>
                <a:latin typeface="Calibri" panose="020F0502020204030204" pitchFamily="34" charset="0"/>
                <a:cs typeface="Calibri" panose="020F0502020204030204" pitchFamily="34" charset="0"/>
              </a:rPr>
              <a:t> (80% Images)</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10" name="Rectangle: Rounded Corners 9">
            <a:extLst>
              <a:ext uri="{FF2B5EF4-FFF2-40B4-BE49-F238E27FC236}">
                <a16:creationId xmlns:a16="http://schemas.microsoft.com/office/drawing/2014/main" id="{8E70C212-2DA6-D876-F355-A3EDEF3221DB}"/>
              </a:ext>
            </a:extLst>
          </p:cNvPr>
          <p:cNvSpPr/>
          <p:nvPr/>
        </p:nvSpPr>
        <p:spPr bwMode="auto">
          <a:xfrm>
            <a:off x="7464152" y="3359488"/>
            <a:ext cx="1692188" cy="715089"/>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cs typeface="Calibri" panose="020F0502020204030204" pitchFamily="34" charset="0"/>
              </a:rPr>
              <a:t> Testing Phase</a:t>
            </a:r>
          </a:p>
          <a:p>
            <a:pPr eaLnBrk="1"/>
            <a:r>
              <a:rPr lang="en-IN" dirty="0">
                <a:cs typeface="Calibri" panose="020F0502020204030204" pitchFamily="34" charset="0"/>
              </a:rPr>
              <a:t> (20% Images)</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12" name="Rectangle 11">
            <a:extLst>
              <a:ext uri="{FF2B5EF4-FFF2-40B4-BE49-F238E27FC236}">
                <a16:creationId xmlns:a16="http://schemas.microsoft.com/office/drawing/2014/main" id="{C505B46B-76AC-AEEE-39A0-28411D3934E0}"/>
              </a:ext>
            </a:extLst>
          </p:cNvPr>
          <p:cNvSpPr/>
          <p:nvPr/>
        </p:nvSpPr>
        <p:spPr bwMode="auto">
          <a:xfrm>
            <a:off x="4223792" y="4490537"/>
            <a:ext cx="3240360"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t>                         DR Detection</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13" name="Rectangle 12">
            <a:extLst>
              <a:ext uri="{FF2B5EF4-FFF2-40B4-BE49-F238E27FC236}">
                <a16:creationId xmlns:a16="http://schemas.microsoft.com/office/drawing/2014/main" id="{4BBD17EC-6D09-2FD2-F3F4-EF2E09C9A543}"/>
              </a:ext>
            </a:extLst>
          </p:cNvPr>
          <p:cNvSpPr/>
          <p:nvPr/>
        </p:nvSpPr>
        <p:spPr bwMode="auto">
          <a:xfrm>
            <a:off x="4269564" y="5749763"/>
            <a:ext cx="3194588"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solidFill>
                  <a:srgbClr val="000000"/>
                </a:solidFill>
                <a:latin typeface="Calibri" panose="020F0502020204030204" pitchFamily="34" charset="0"/>
                <a:cs typeface="Calibri" panose="020F0502020204030204" pitchFamily="34" charset="0"/>
              </a:rPr>
              <a:t>       DR Severity Classification</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14" name="Rectangle 13">
            <a:extLst>
              <a:ext uri="{FF2B5EF4-FFF2-40B4-BE49-F238E27FC236}">
                <a16:creationId xmlns:a16="http://schemas.microsoft.com/office/drawing/2014/main" id="{4D7B2ECA-00E9-D43B-AA40-1E0C8679D820}"/>
              </a:ext>
            </a:extLst>
          </p:cNvPr>
          <p:cNvSpPr/>
          <p:nvPr/>
        </p:nvSpPr>
        <p:spPr bwMode="auto">
          <a:xfrm>
            <a:off x="4665608" y="6414920"/>
            <a:ext cx="2412268"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solidFill>
                  <a:srgbClr val="000000"/>
                </a:solidFill>
                <a:latin typeface="Calibri" panose="020F0502020204030204" pitchFamily="34" charset="0"/>
                <a:cs typeface="Calibri" panose="020F0502020204030204" pitchFamily="34" charset="0"/>
              </a:rPr>
              <a:t>       Model Evaluation</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15" name="Rectangle 14">
            <a:extLst>
              <a:ext uri="{FF2B5EF4-FFF2-40B4-BE49-F238E27FC236}">
                <a16:creationId xmlns:a16="http://schemas.microsoft.com/office/drawing/2014/main" id="{E6128FD9-B95E-8522-BE8B-3BC33666E2ED}"/>
              </a:ext>
            </a:extLst>
          </p:cNvPr>
          <p:cNvSpPr/>
          <p:nvPr/>
        </p:nvSpPr>
        <p:spPr bwMode="auto">
          <a:xfrm>
            <a:off x="9480376" y="4653136"/>
            <a:ext cx="2232248"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a:solidFill>
                  <a:srgbClr val="000000"/>
                </a:solidFill>
                <a:latin typeface="Calibri" panose="020F0502020204030204" pitchFamily="34" charset="0"/>
                <a:cs typeface="Calibri" panose="020F0502020204030204" pitchFamily="34" charset="0"/>
              </a:rPr>
              <a:t>Flask Web Application</a:t>
            </a:r>
            <a:endParaRPr kumimoji="0" lang="en-IN" sz="18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sp>
        <p:nvSpPr>
          <p:cNvPr id="16" name="Rectangle 15">
            <a:extLst>
              <a:ext uri="{FF2B5EF4-FFF2-40B4-BE49-F238E27FC236}">
                <a16:creationId xmlns:a16="http://schemas.microsoft.com/office/drawing/2014/main" id="{505C5CC2-DFA4-FA65-41D2-4BC40F6D8CFA}"/>
              </a:ext>
            </a:extLst>
          </p:cNvPr>
          <p:cNvSpPr/>
          <p:nvPr/>
        </p:nvSpPr>
        <p:spPr bwMode="auto">
          <a:xfrm>
            <a:off x="3863752" y="5155694"/>
            <a:ext cx="3960440"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US" dirty="0">
                <a:solidFill>
                  <a:srgbClr val="000000"/>
                </a:solidFill>
                <a:latin typeface="Calibri" panose="020F0502020204030204" pitchFamily="34" charset="0"/>
                <a:cs typeface="Calibri" panose="020F0502020204030204" pitchFamily="34" charset="0"/>
              </a:rPr>
              <a:t>Deep Learning Model –InceptionV3(CNN)</a:t>
            </a:r>
            <a:endParaRPr lang="en-IN" dirty="0">
              <a:solidFill>
                <a:srgbClr val="000000"/>
              </a:solidFill>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EE37548B-A4CB-67F6-981E-D41E85B79C00}"/>
              </a:ext>
            </a:extLst>
          </p:cNvPr>
          <p:cNvSpPr/>
          <p:nvPr/>
        </p:nvSpPr>
        <p:spPr bwMode="auto">
          <a:xfrm>
            <a:off x="9624392" y="5561505"/>
            <a:ext cx="1944216" cy="36933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45720" tIns="45720" rIns="45720" bIns="45720" numCol="1" rtlCol="0" anchor="ctr" anchorCtr="0" compatLnSpc="1">
            <a:spAutoFit/>
          </a:bodyPr>
          <a:lstStyle/>
          <a:p>
            <a:pPr eaLnBrk="1"/>
            <a:r>
              <a:rPr lang="en-IN" dirty="0">
                <a:solidFill>
                  <a:srgbClr val="000000"/>
                </a:solidFill>
                <a:latin typeface="Calibri" panose="020F0502020204030204" pitchFamily="34" charset="0"/>
                <a:cs typeface="Calibri" panose="020F0502020204030204" pitchFamily="34" charset="0"/>
              </a:rPr>
              <a:t>       Final Output</a:t>
            </a:r>
            <a:endParaRPr kumimoji="0" lang="en-IN" sz="18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endParaRPr>
          </a:p>
        </p:txBody>
      </p:sp>
      <p:cxnSp>
        <p:nvCxnSpPr>
          <p:cNvPr id="20" name="Straight Arrow Connector 19">
            <a:extLst>
              <a:ext uri="{FF2B5EF4-FFF2-40B4-BE49-F238E27FC236}">
                <a16:creationId xmlns:a16="http://schemas.microsoft.com/office/drawing/2014/main" id="{9482628E-C1C9-1CE6-6D7D-A7D2FBD8F5FA}"/>
              </a:ext>
            </a:extLst>
          </p:cNvPr>
          <p:cNvCxnSpPr>
            <a:stCxn id="2" idx="2"/>
            <a:endCxn id="6" idx="0"/>
          </p:cNvCxnSpPr>
          <p:nvPr/>
        </p:nvCxnSpPr>
        <p:spPr bwMode="auto">
          <a:xfrm>
            <a:off x="5735960" y="1278052"/>
            <a:ext cx="0" cy="35074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A95E216E-CB63-1944-09B7-AD847752B2F2}"/>
              </a:ext>
            </a:extLst>
          </p:cNvPr>
          <p:cNvCxnSpPr>
            <a:stCxn id="6" idx="2"/>
            <a:endCxn id="7" idx="0"/>
          </p:cNvCxnSpPr>
          <p:nvPr/>
        </p:nvCxnSpPr>
        <p:spPr bwMode="auto">
          <a:xfrm>
            <a:off x="5735960" y="1998132"/>
            <a:ext cx="9768" cy="35074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4" name="Connector: Curved 23">
            <a:extLst>
              <a:ext uri="{FF2B5EF4-FFF2-40B4-BE49-F238E27FC236}">
                <a16:creationId xmlns:a16="http://schemas.microsoft.com/office/drawing/2014/main" id="{4A02034F-E4CB-87D3-6BEB-D34F439E7A63}"/>
              </a:ext>
            </a:extLst>
          </p:cNvPr>
          <p:cNvCxnSpPr>
            <a:stCxn id="7" idx="2"/>
            <a:endCxn id="8" idx="0"/>
          </p:cNvCxnSpPr>
          <p:nvPr/>
        </p:nvCxnSpPr>
        <p:spPr bwMode="auto">
          <a:xfrm rot="5400000">
            <a:off x="4331086" y="1944844"/>
            <a:ext cx="641275" cy="2188010"/>
          </a:xfrm>
          <a:prstGeom prst="curvedConnector3">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6" name="Connector: Curved 25">
            <a:extLst>
              <a:ext uri="{FF2B5EF4-FFF2-40B4-BE49-F238E27FC236}">
                <a16:creationId xmlns:a16="http://schemas.microsoft.com/office/drawing/2014/main" id="{D377748A-E354-5857-651C-8720093E5B77}"/>
              </a:ext>
            </a:extLst>
          </p:cNvPr>
          <p:cNvCxnSpPr>
            <a:stCxn id="7" idx="2"/>
            <a:endCxn id="10" idx="0"/>
          </p:cNvCxnSpPr>
          <p:nvPr/>
        </p:nvCxnSpPr>
        <p:spPr bwMode="auto">
          <a:xfrm rot="16200000" flipH="1">
            <a:off x="6707349" y="1756591"/>
            <a:ext cx="641276" cy="2564518"/>
          </a:xfrm>
          <a:prstGeom prst="curvedConnector3">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8" name="Connector: Curved 27">
            <a:extLst>
              <a:ext uri="{FF2B5EF4-FFF2-40B4-BE49-F238E27FC236}">
                <a16:creationId xmlns:a16="http://schemas.microsoft.com/office/drawing/2014/main" id="{8951A490-94B0-B10B-5F74-C652DAA6BB4A}"/>
              </a:ext>
            </a:extLst>
          </p:cNvPr>
          <p:cNvCxnSpPr>
            <a:cxnSpLocks/>
            <a:stCxn id="8" idx="2"/>
            <a:endCxn id="12" idx="0"/>
          </p:cNvCxnSpPr>
          <p:nvPr/>
        </p:nvCxnSpPr>
        <p:spPr bwMode="auto">
          <a:xfrm rot="16200000" flipH="1">
            <a:off x="4492865" y="3139429"/>
            <a:ext cx="415961" cy="2286254"/>
          </a:xfrm>
          <a:prstGeom prst="curvedConnector3">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0" name="Connector: Curved 29">
            <a:extLst>
              <a:ext uri="{FF2B5EF4-FFF2-40B4-BE49-F238E27FC236}">
                <a16:creationId xmlns:a16="http://schemas.microsoft.com/office/drawing/2014/main" id="{F8735F0D-3105-D99B-618B-375832933DEA}"/>
              </a:ext>
            </a:extLst>
          </p:cNvPr>
          <p:cNvCxnSpPr>
            <a:cxnSpLocks/>
            <a:stCxn id="10" idx="2"/>
            <a:endCxn id="12" idx="0"/>
          </p:cNvCxnSpPr>
          <p:nvPr/>
        </p:nvCxnSpPr>
        <p:spPr bwMode="auto">
          <a:xfrm rot="5400000">
            <a:off x="6869129" y="3049420"/>
            <a:ext cx="415960" cy="2466274"/>
          </a:xfrm>
          <a:prstGeom prst="curvedConnector3">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828CC6C2-C4C4-0CDC-303C-92A12CDF2E0C}"/>
              </a:ext>
            </a:extLst>
          </p:cNvPr>
          <p:cNvCxnSpPr>
            <a:stCxn id="13" idx="2"/>
            <a:endCxn id="14" idx="0"/>
          </p:cNvCxnSpPr>
          <p:nvPr/>
        </p:nvCxnSpPr>
        <p:spPr bwMode="auto">
          <a:xfrm>
            <a:off x="5866858" y="6119095"/>
            <a:ext cx="4884" cy="295825"/>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27384AD2-EE33-28BF-2130-CEEF4A1723E0}"/>
              </a:ext>
            </a:extLst>
          </p:cNvPr>
          <p:cNvCxnSpPr>
            <a:cxnSpLocks/>
            <a:stCxn id="12" idx="2"/>
            <a:endCxn id="16" idx="0"/>
          </p:cNvCxnSpPr>
          <p:nvPr/>
        </p:nvCxnSpPr>
        <p:spPr bwMode="auto">
          <a:xfrm>
            <a:off x="5843972" y="4859869"/>
            <a:ext cx="0" cy="295825"/>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9851693B-C5DB-4B12-960B-15D55FDF1DF8}"/>
              </a:ext>
            </a:extLst>
          </p:cNvPr>
          <p:cNvCxnSpPr>
            <a:endCxn id="13" idx="0"/>
          </p:cNvCxnSpPr>
          <p:nvPr/>
        </p:nvCxnSpPr>
        <p:spPr bwMode="auto">
          <a:xfrm>
            <a:off x="5866858" y="5531079"/>
            <a:ext cx="0" cy="218684"/>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4" name="Connector: Elbow 43">
            <a:extLst>
              <a:ext uri="{FF2B5EF4-FFF2-40B4-BE49-F238E27FC236}">
                <a16:creationId xmlns:a16="http://schemas.microsoft.com/office/drawing/2014/main" id="{A75245F1-0A88-85EF-DB82-B5D79ABFC012}"/>
              </a:ext>
            </a:extLst>
          </p:cNvPr>
          <p:cNvCxnSpPr>
            <a:stCxn id="14" idx="3"/>
            <a:endCxn id="15" idx="1"/>
          </p:cNvCxnSpPr>
          <p:nvPr/>
        </p:nvCxnSpPr>
        <p:spPr bwMode="auto">
          <a:xfrm flipV="1">
            <a:off x="7077876" y="4837802"/>
            <a:ext cx="2402500" cy="1761784"/>
          </a:xfrm>
          <a:prstGeom prst="bentConnector3">
            <a:avLst/>
          </a:prstGeom>
          <a:ln>
            <a:headEnd type="none" w="med" len="med"/>
            <a:tailEnd type="triangle"/>
          </a:ln>
        </p:spPr>
        <p:style>
          <a:lnRef idx="2">
            <a:schemeClr val="accent4"/>
          </a:lnRef>
          <a:fillRef idx="0">
            <a:schemeClr val="accent4"/>
          </a:fillRef>
          <a:effectRef idx="1">
            <a:schemeClr val="accent4"/>
          </a:effectRef>
          <a:fontRef idx="minor">
            <a:schemeClr val="tx1"/>
          </a:fontRef>
        </p:style>
      </p:cxnSp>
      <p:cxnSp>
        <p:nvCxnSpPr>
          <p:cNvPr id="48" name="Straight Arrow Connector 47">
            <a:extLst>
              <a:ext uri="{FF2B5EF4-FFF2-40B4-BE49-F238E27FC236}">
                <a16:creationId xmlns:a16="http://schemas.microsoft.com/office/drawing/2014/main" id="{C0D2649C-267D-C6D1-D7AC-95CB42B381EC}"/>
              </a:ext>
            </a:extLst>
          </p:cNvPr>
          <p:cNvCxnSpPr>
            <a:stCxn id="15" idx="2"/>
            <a:endCxn id="18" idx="0"/>
          </p:cNvCxnSpPr>
          <p:nvPr/>
        </p:nvCxnSpPr>
        <p:spPr bwMode="auto">
          <a:xfrm>
            <a:off x="10596500" y="5022468"/>
            <a:ext cx="0" cy="539037"/>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92420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CF3CE5A-6F0D-AB55-0331-3B7C29D4CD70}"/>
              </a:ext>
            </a:extLst>
          </p:cNvPr>
          <p:cNvGraphicFramePr>
            <a:graphicFrameLocks noGrp="1"/>
          </p:cNvGraphicFramePr>
          <p:nvPr>
            <p:extLst>
              <p:ext uri="{D42A27DB-BD31-4B8C-83A1-F6EECF244321}">
                <p14:modId xmlns:p14="http://schemas.microsoft.com/office/powerpoint/2010/main" val="3993808277"/>
              </p:ext>
            </p:extLst>
          </p:nvPr>
        </p:nvGraphicFramePr>
        <p:xfrm>
          <a:off x="839416" y="980728"/>
          <a:ext cx="10441164" cy="5782562"/>
        </p:xfrm>
        <a:graphic>
          <a:graphicData uri="http://schemas.openxmlformats.org/drawingml/2006/table">
            <a:tbl>
              <a:tblPr>
                <a:tableStyleId>{ED083AE6-46FA-4A59-8FB0-9F97EB10719F}</a:tableStyleId>
              </a:tblPr>
              <a:tblGrid>
                <a:gridCol w="1740194">
                  <a:extLst>
                    <a:ext uri="{9D8B030D-6E8A-4147-A177-3AD203B41FA5}">
                      <a16:colId xmlns:a16="http://schemas.microsoft.com/office/drawing/2014/main" val="1087208320"/>
                    </a:ext>
                  </a:extLst>
                </a:gridCol>
                <a:gridCol w="1740194">
                  <a:extLst>
                    <a:ext uri="{9D8B030D-6E8A-4147-A177-3AD203B41FA5}">
                      <a16:colId xmlns:a16="http://schemas.microsoft.com/office/drawing/2014/main" val="2235083699"/>
                    </a:ext>
                  </a:extLst>
                </a:gridCol>
                <a:gridCol w="1740194">
                  <a:extLst>
                    <a:ext uri="{9D8B030D-6E8A-4147-A177-3AD203B41FA5}">
                      <a16:colId xmlns:a16="http://schemas.microsoft.com/office/drawing/2014/main" val="871401567"/>
                    </a:ext>
                  </a:extLst>
                </a:gridCol>
                <a:gridCol w="1740194">
                  <a:extLst>
                    <a:ext uri="{9D8B030D-6E8A-4147-A177-3AD203B41FA5}">
                      <a16:colId xmlns:a16="http://schemas.microsoft.com/office/drawing/2014/main" val="636191186"/>
                    </a:ext>
                  </a:extLst>
                </a:gridCol>
                <a:gridCol w="1740194">
                  <a:extLst>
                    <a:ext uri="{9D8B030D-6E8A-4147-A177-3AD203B41FA5}">
                      <a16:colId xmlns:a16="http://schemas.microsoft.com/office/drawing/2014/main" val="218519969"/>
                    </a:ext>
                  </a:extLst>
                </a:gridCol>
                <a:gridCol w="1740194">
                  <a:extLst>
                    <a:ext uri="{9D8B030D-6E8A-4147-A177-3AD203B41FA5}">
                      <a16:colId xmlns:a16="http://schemas.microsoft.com/office/drawing/2014/main" val="484413151"/>
                    </a:ext>
                  </a:extLst>
                </a:gridCol>
              </a:tblGrid>
              <a:tr h="388905">
                <a:tc>
                  <a:txBody>
                    <a:bodyPr/>
                    <a:lstStyle/>
                    <a:p>
                      <a:pPr>
                        <a:buNone/>
                      </a:pPr>
                      <a:r>
                        <a:rPr lang="en-IN" sz="1050" b="1"/>
                        <a:t>Reference / Authors / Year</a:t>
                      </a:r>
                      <a:endParaRPr lang="en-IN" sz="1050"/>
                    </a:p>
                  </a:txBody>
                  <a:tcPr marL="25152" marR="25152" marT="12576" marB="12576" anchor="ctr"/>
                </a:tc>
                <a:tc>
                  <a:txBody>
                    <a:bodyPr/>
                    <a:lstStyle/>
                    <a:p>
                      <a:pPr>
                        <a:buNone/>
                      </a:pPr>
                      <a:r>
                        <a:rPr lang="en-IN" sz="1050" b="1"/>
                        <a:t>Title of the Paper</a:t>
                      </a:r>
                      <a:endParaRPr lang="en-IN" sz="1050"/>
                    </a:p>
                  </a:txBody>
                  <a:tcPr marL="25152" marR="25152" marT="12576" marB="12576" anchor="ctr"/>
                </a:tc>
                <a:tc>
                  <a:txBody>
                    <a:bodyPr/>
                    <a:lstStyle/>
                    <a:p>
                      <a:pPr>
                        <a:buNone/>
                      </a:pPr>
                      <a:r>
                        <a:rPr lang="en-IN" sz="1050" b="1"/>
                        <a:t>Given Methodology</a:t>
                      </a:r>
                      <a:endParaRPr lang="en-IN" sz="1050"/>
                    </a:p>
                  </a:txBody>
                  <a:tcPr marL="25152" marR="25152" marT="12576" marB="12576" anchor="ctr"/>
                </a:tc>
                <a:tc>
                  <a:txBody>
                    <a:bodyPr/>
                    <a:lstStyle/>
                    <a:p>
                      <a:pPr>
                        <a:buNone/>
                      </a:pPr>
                      <a:r>
                        <a:rPr lang="en-US" sz="1050" b="1" dirty="0"/>
                        <a:t>Dataset Used? (Yes/No)</a:t>
                      </a:r>
                      <a:r>
                        <a:rPr lang="en-US" sz="1050" dirty="0"/>
                        <a:t> If Yes, Name of Dataset</a:t>
                      </a:r>
                    </a:p>
                  </a:txBody>
                  <a:tcPr marL="25152" marR="25152" marT="12576" marB="12576" anchor="ctr"/>
                </a:tc>
                <a:tc>
                  <a:txBody>
                    <a:bodyPr/>
                    <a:lstStyle/>
                    <a:p>
                      <a:pPr>
                        <a:buNone/>
                      </a:pPr>
                      <a:r>
                        <a:rPr lang="en-IN" sz="1050" b="1"/>
                        <a:t>Implementation Tool</a:t>
                      </a:r>
                      <a:endParaRPr lang="en-IN" sz="1050"/>
                    </a:p>
                  </a:txBody>
                  <a:tcPr marL="25152" marR="25152" marT="12576" marB="12576" anchor="ctr"/>
                </a:tc>
                <a:tc>
                  <a:txBody>
                    <a:bodyPr/>
                    <a:lstStyle/>
                    <a:p>
                      <a:pPr>
                        <a:buNone/>
                      </a:pPr>
                      <a:r>
                        <a:rPr lang="en-IN" sz="1050" b="1"/>
                        <a:t>Results / Performance Metrics</a:t>
                      </a:r>
                      <a:endParaRPr lang="en-IN" sz="1050"/>
                    </a:p>
                  </a:txBody>
                  <a:tcPr marL="25152" marR="25152" marT="12576" marB="12576" anchor="ctr"/>
                </a:tc>
                <a:extLst>
                  <a:ext uri="{0D108BD9-81ED-4DB2-BD59-A6C34878D82A}">
                    <a16:rowId xmlns:a16="http://schemas.microsoft.com/office/drawing/2014/main" val="2217826088"/>
                  </a:ext>
                </a:extLst>
              </a:tr>
              <a:tr h="1376124">
                <a:tc>
                  <a:txBody>
                    <a:bodyPr/>
                    <a:lstStyle/>
                    <a:p>
                      <a:pPr>
                        <a:buNone/>
                      </a:pPr>
                      <a:r>
                        <a:rPr lang="en-IN" sz="1050" b="0" dirty="0"/>
                        <a:t>Shamrat, F.M.J., Shakil R., Sharmin N.H.O., Akter B., Ahmed M.Z. (2023)”</a:t>
                      </a:r>
                      <a:r>
                        <a:rPr lang="en-US" sz="1050" dirty="0"/>
                        <a:t> An Advanced Deep Neural Network for Fundus Image Analysis and Enhancing Diabetic Retinopathy Detection”.</a:t>
                      </a:r>
                      <a:endParaRPr lang="en-IN" sz="1050" b="0" dirty="0"/>
                    </a:p>
                  </a:txBody>
                  <a:tcPr marL="25152" marR="25152" marT="12576" marB="12576" anchor="ctr"/>
                </a:tc>
                <a:tc>
                  <a:txBody>
                    <a:bodyPr/>
                    <a:lstStyle/>
                    <a:p>
                      <a:pPr>
                        <a:buNone/>
                      </a:pPr>
                      <a:r>
                        <a:rPr lang="en-US" sz="1050" dirty="0"/>
                        <a:t>An Advanced Deep Neural Network for Fundus Image Analysis and Enhancing Diabetic Retinopathy Detection</a:t>
                      </a:r>
                    </a:p>
                  </a:txBody>
                  <a:tcPr marL="25152" marR="25152" marT="12576" marB="12576" anchor="ctr"/>
                </a:tc>
                <a:tc>
                  <a:txBody>
                    <a:bodyPr/>
                    <a:lstStyle/>
                    <a:p>
                      <a:pPr>
                        <a:buNone/>
                      </a:pPr>
                      <a:r>
                        <a:rPr lang="en-IN" sz="1050" dirty="0"/>
                        <a:t>• Improved Deep Neural Network for DR detection. </a:t>
                      </a:r>
                    </a:p>
                    <a:p>
                      <a:pPr>
                        <a:buNone/>
                      </a:pPr>
                      <a:r>
                        <a:rPr lang="en-IN" sz="1050" dirty="0"/>
                        <a:t>• Preprocessing: noise removal, contrast enhancement. </a:t>
                      </a:r>
                    </a:p>
                    <a:p>
                      <a:pPr>
                        <a:buNone/>
                      </a:pPr>
                      <a:r>
                        <a:rPr lang="en-IN" sz="1050" dirty="0"/>
                        <a:t>• Lesion-focused feature extraction. </a:t>
                      </a:r>
                    </a:p>
                    <a:p>
                      <a:pPr>
                        <a:buNone/>
                      </a:pPr>
                      <a:r>
                        <a:rPr lang="en-IN" sz="1050" dirty="0"/>
                        <a:t>• Data augmentation for generalization.</a:t>
                      </a:r>
                    </a:p>
                  </a:txBody>
                  <a:tcPr marL="25152" marR="25152" marT="12576" marB="12576" anchor="ctr"/>
                </a:tc>
                <a:tc>
                  <a:txBody>
                    <a:bodyPr/>
                    <a:lstStyle/>
                    <a:p>
                      <a:pPr>
                        <a:buNone/>
                      </a:pPr>
                      <a:r>
                        <a:rPr lang="en-IN" sz="1050" b="1" dirty="0"/>
                        <a:t>Yes</a:t>
                      </a:r>
                      <a:r>
                        <a:rPr lang="en-IN" sz="1050" dirty="0"/>
                        <a:t> EyePACS / Messidor</a:t>
                      </a:r>
                    </a:p>
                  </a:txBody>
                  <a:tcPr marL="25152" marR="25152" marT="12576" marB="12576" anchor="ctr"/>
                </a:tc>
                <a:tc>
                  <a:txBody>
                    <a:bodyPr/>
                    <a:lstStyle/>
                    <a:p>
                      <a:pPr>
                        <a:buNone/>
                      </a:pPr>
                      <a:r>
                        <a:rPr lang="en-IN" sz="1050" dirty="0"/>
                        <a:t>Python, TensorFlow / Keras</a:t>
                      </a:r>
                    </a:p>
                  </a:txBody>
                  <a:tcPr marL="25152" marR="25152" marT="12576" marB="12576" anchor="ctr"/>
                </a:tc>
                <a:tc>
                  <a:txBody>
                    <a:bodyPr/>
                    <a:lstStyle/>
                    <a:p>
                      <a:pPr>
                        <a:buNone/>
                      </a:pPr>
                      <a:r>
                        <a:rPr lang="en-US" sz="1050" dirty="0"/>
                        <a:t>• Accuracy </a:t>
                      </a:r>
                    </a:p>
                    <a:p>
                      <a:pPr>
                        <a:buNone/>
                      </a:pPr>
                      <a:r>
                        <a:rPr lang="en-US" sz="1050" dirty="0"/>
                        <a:t>• Sensitivity, Specificity </a:t>
                      </a:r>
                    </a:p>
                    <a:p>
                      <a:pPr>
                        <a:buNone/>
                      </a:pPr>
                      <a:r>
                        <a:rPr lang="en-US" sz="1050" dirty="0"/>
                        <a:t>• Confusion matrix </a:t>
                      </a:r>
                    </a:p>
                    <a:p>
                      <a:pPr>
                        <a:buNone/>
                      </a:pPr>
                      <a:r>
                        <a:rPr lang="en-US" sz="1050" dirty="0"/>
                        <a:t>• Visual lesion feature maps</a:t>
                      </a:r>
                    </a:p>
                  </a:txBody>
                  <a:tcPr marL="25152" marR="25152" marT="12576" marB="12576" anchor="ctr"/>
                </a:tc>
                <a:extLst>
                  <a:ext uri="{0D108BD9-81ED-4DB2-BD59-A6C34878D82A}">
                    <a16:rowId xmlns:a16="http://schemas.microsoft.com/office/drawing/2014/main" val="1170952048"/>
                  </a:ext>
                </a:extLst>
              </a:tr>
              <a:tr h="837641">
                <a:tc>
                  <a:txBody>
                    <a:bodyPr/>
                    <a:lstStyle/>
                    <a:p>
                      <a:pPr>
                        <a:buNone/>
                      </a:pPr>
                      <a:r>
                        <a:rPr lang="sv-SE" sz="1050" dirty="0"/>
                        <a:t>Chaichana Suedumrong, Suriya Phongmoo, Tachanat Akarajaka, Komgrit Leksakul (2024)</a:t>
                      </a:r>
                      <a:endParaRPr lang="en-IN" sz="1050" b="0" dirty="0"/>
                    </a:p>
                  </a:txBody>
                  <a:tcPr marL="25152" marR="25152" marT="12576" marB="12576" anchor="ctr"/>
                </a:tc>
                <a:tc>
                  <a:txBody>
                    <a:bodyPr/>
                    <a:lstStyle/>
                    <a:p>
                      <a:pPr>
                        <a:buNone/>
                      </a:pPr>
                      <a:r>
                        <a:rPr lang="en-US" sz="1050" dirty="0"/>
                        <a:t>CNN-Based DR Detection with Image Preprocessing Techniques</a:t>
                      </a:r>
                    </a:p>
                  </a:txBody>
                  <a:tcPr marL="25152" marR="25152" marT="12576" marB="12576" anchor="ctr"/>
                </a:tc>
                <a:tc>
                  <a:txBody>
                    <a:bodyPr/>
                    <a:lstStyle/>
                    <a:p>
                      <a:pPr>
                        <a:buNone/>
                      </a:pPr>
                      <a:r>
                        <a:rPr lang="en-US" sz="1050" dirty="0"/>
                        <a:t>• Comparison of grayscale vs RGB images </a:t>
                      </a:r>
                      <a:br>
                        <a:rPr lang="en-US" sz="1050" dirty="0"/>
                      </a:br>
                      <a:r>
                        <a:rPr lang="en-US" sz="1050" dirty="0"/>
                        <a:t>• Training with 200 epochs vs fewer epochs </a:t>
                      </a:r>
                      <a:br>
                        <a:rPr lang="en-US" sz="1050" dirty="0"/>
                      </a:br>
                      <a:r>
                        <a:rPr lang="en-US" sz="1050" dirty="0"/>
                        <a:t>• Background removal improves feature clarity </a:t>
                      </a:r>
                      <a:br>
                        <a:rPr lang="en-US" sz="1050" dirty="0"/>
                      </a:br>
                      <a:r>
                        <a:rPr lang="en-US" sz="1050" dirty="0"/>
                        <a:t>• Model architecture with Conv layers + Dense layers.</a:t>
                      </a:r>
                    </a:p>
                  </a:txBody>
                  <a:tcPr marL="25152" marR="25152" marT="12576" marB="12576" anchor="ctr"/>
                </a:tc>
                <a:tc>
                  <a:txBody>
                    <a:bodyPr/>
                    <a:lstStyle/>
                    <a:p>
                      <a:pPr>
                        <a:buNone/>
                      </a:pPr>
                      <a:r>
                        <a:rPr lang="en-IN" sz="1050" b="1" dirty="0"/>
                        <a:t>Yes</a:t>
                      </a:r>
                      <a:r>
                        <a:rPr lang="en-IN" sz="1050" dirty="0"/>
                        <a:t> Kaggle DR Dataset / EyePACS</a:t>
                      </a:r>
                    </a:p>
                  </a:txBody>
                  <a:tcPr marL="25152" marR="25152" marT="12576" marB="12576" anchor="ctr"/>
                </a:tc>
                <a:tc>
                  <a:txBody>
                    <a:bodyPr/>
                    <a:lstStyle/>
                    <a:p>
                      <a:pPr>
                        <a:buNone/>
                      </a:pPr>
                      <a:r>
                        <a:rPr lang="en-IN" sz="1050" dirty="0"/>
                        <a:t>Python, TensorFlow</a:t>
                      </a:r>
                    </a:p>
                  </a:txBody>
                  <a:tcPr marL="25152" marR="25152" marT="12576" marB="12576" anchor="ctr"/>
                </a:tc>
                <a:tc>
                  <a:txBody>
                    <a:bodyPr/>
                    <a:lstStyle/>
                    <a:p>
                      <a:pPr>
                        <a:buNone/>
                      </a:pPr>
                      <a:r>
                        <a:rPr lang="en-IN" sz="1050" dirty="0"/>
                        <a:t>• Grayscale model: 90.39% accuracy </a:t>
                      </a:r>
                      <a:br>
                        <a:rPr lang="en-IN" sz="1050" dirty="0"/>
                      </a:br>
                      <a:r>
                        <a:rPr lang="en-IN" sz="1050" dirty="0"/>
                        <a:t>• RGB model: </a:t>
                      </a:r>
                      <a:r>
                        <a:rPr lang="en-IN" sz="1050" b="0" dirty="0"/>
                        <a:t>90.60% accuracy (best) </a:t>
                      </a:r>
                      <a:br>
                        <a:rPr lang="en-IN" sz="1050" dirty="0"/>
                      </a:br>
                      <a:r>
                        <a:rPr lang="en-IN" sz="1050" dirty="0"/>
                        <a:t>• Fewer epochs → reduced accuracy (87.64%)</a:t>
                      </a:r>
                      <a:endParaRPr lang="en-US" sz="1050" dirty="0"/>
                    </a:p>
                  </a:txBody>
                  <a:tcPr marL="25152" marR="25152" marT="12576" marB="12576" anchor="ctr"/>
                </a:tc>
                <a:extLst>
                  <a:ext uri="{0D108BD9-81ED-4DB2-BD59-A6C34878D82A}">
                    <a16:rowId xmlns:a16="http://schemas.microsoft.com/office/drawing/2014/main" val="2463505195"/>
                  </a:ext>
                </a:extLst>
              </a:tr>
              <a:tr h="837641">
                <a:tc>
                  <a:txBody>
                    <a:bodyPr/>
                    <a:lstStyle/>
                    <a:p>
                      <a:pPr>
                        <a:buNone/>
                      </a:pPr>
                      <a:r>
                        <a:rPr lang="da-DK" sz="1050" dirty="0"/>
                        <a:t>Sanskruti Patel et al. (2020)</a:t>
                      </a:r>
                      <a:r>
                        <a:rPr lang="en-US" sz="1050" dirty="0"/>
                        <a:t>.</a:t>
                      </a:r>
                    </a:p>
                    <a:p>
                      <a:pPr>
                        <a:buNone/>
                      </a:pPr>
                      <a:endParaRPr lang="en-IN" sz="1050" b="0" dirty="0"/>
                    </a:p>
                  </a:txBody>
                  <a:tcPr marL="25152" marR="25152" marT="12576" marB="12576" anchor="ctr"/>
                </a:tc>
                <a:tc>
                  <a:txBody>
                    <a:bodyPr/>
                    <a:lstStyle/>
                    <a:p>
                      <a:pPr>
                        <a:buNone/>
                      </a:pPr>
                      <a:r>
                        <a:rPr lang="en-US" sz="1050" dirty="0"/>
                        <a:t>Diabetic Retinopathy Detection and Classification using Pre-trained Convolutional Neural Networks</a:t>
                      </a:r>
                    </a:p>
                  </a:txBody>
                  <a:tcPr marL="25152" marR="25152" marT="12576" marB="12576" anchor="ctr"/>
                </a:tc>
                <a:tc>
                  <a:txBody>
                    <a:bodyPr/>
                    <a:lstStyle/>
                    <a:p>
                      <a:pPr>
                        <a:buNone/>
                      </a:pPr>
                      <a:r>
                        <a:rPr lang="en-US" sz="1050" dirty="0"/>
                        <a:t>• InceptionV3-based classifier. • Preprocessing + class balancing. </a:t>
                      </a:r>
                    </a:p>
                    <a:p>
                      <a:pPr>
                        <a:buNone/>
                      </a:pPr>
                      <a:r>
                        <a:rPr lang="en-US" sz="1050" dirty="0"/>
                        <a:t>• Compared optimizers &amp; training approaches.</a:t>
                      </a:r>
                    </a:p>
                  </a:txBody>
                  <a:tcPr marL="25152" marR="25152" marT="12576" marB="12576" anchor="ctr"/>
                </a:tc>
                <a:tc>
                  <a:txBody>
                    <a:bodyPr/>
                    <a:lstStyle/>
                    <a:p>
                      <a:pPr>
                        <a:buNone/>
                      </a:pPr>
                      <a:r>
                        <a:rPr lang="en-IN" sz="1050" dirty="0"/>
                        <a:t>Yes – Kaggle EyePACS dataset</a:t>
                      </a:r>
                    </a:p>
                  </a:txBody>
                  <a:tcPr marL="25152" marR="25152" marT="12576" marB="12576" anchor="ctr"/>
                </a:tc>
                <a:tc>
                  <a:txBody>
                    <a:bodyPr/>
                    <a:lstStyle/>
                    <a:p>
                      <a:pPr>
                        <a:buNone/>
                      </a:pPr>
                      <a:r>
                        <a:rPr lang="en-IN" sz="1050" dirty="0"/>
                        <a:t>Python, TensorFlow / Keras</a:t>
                      </a:r>
                    </a:p>
                  </a:txBody>
                  <a:tcPr marL="25152" marR="25152" marT="12576" marB="12576" anchor="ctr"/>
                </a:tc>
                <a:tc>
                  <a:txBody>
                    <a:bodyPr/>
                    <a:lstStyle/>
                    <a:p>
                      <a:pPr>
                        <a:buNone/>
                      </a:pPr>
                      <a:r>
                        <a:rPr lang="en-US" sz="1050" dirty="0"/>
                        <a:t>• Accuracy </a:t>
                      </a:r>
                    </a:p>
                    <a:p>
                      <a:pPr>
                        <a:buNone/>
                      </a:pPr>
                      <a:r>
                        <a:rPr lang="en-US" sz="1050" dirty="0"/>
                        <a:t>• Sensitivity &amp; Specificity </a:t>
                      </a:r>
                    </a:p>
                    <a:p>
                      <a:pPr>
                        <a:buNone/>
                      </a:pPr>
                      <a:r>
                        <a:rPr lang="en-US" sz="1050" dirty="0"/>
                        <a:t>• Efficient DR stage classification using CNN models</a:t>
                      </a:r>
                    </a:p>
                  </a:txBody>
                  <a:tcPr marL="25152" marR="25152" marT="12576" marB="12576" anchor="ctr"/>
                </a:tc>
                <a:extLst>
                  <a:ext uri="{0D108BD9-81ED-4DB2-BD59-A6C34878D82A}">
                    <a16:rowId xmlns:a16="http://schemas.microsoft.com/office/drawing/2014/main" val="2035675138"/>
                  </a:ext>
                </a:extLst>
              </a:tr>
              <a:tr h="1785372">
                <a:tc>
                  <a:txBody>
                    <a:bodyPr/>
                    <a:lstStyle/>
                    <a:p>
                      <a:pPr>
                        <a:buNone/>
                      </a:pPr>
                      <a:r>
                        <a:rPr lang="en-IN" sz="1050" b="1" dirty="0"/>
                        <a:t>Pidugu Sai Prasanna (114)</a:t>
                      </a:r>
                      <a:r>
                        <a:rPr lang="en-IN" sz="1050" dirty="0"/>
                        <a:t> </a:t>
                      </a:r>
                      <a:r>
                        <a:rPr lang="en-IN" sz="1050" b="1" dirty="0"/>
                        <a:t>Bokinala Reshmitha (076)</a:t>
                      </a:r>
                      <a:r>
                        <a:rPr lang="en-IN" sz="1050" dirty="0"/>
                        <a:t> </a:t>
                      </a:r>
                      <a:r>
                        <a:rPr lang="en-IN" sz="1050" b="1" dirty="0"/>
                        <a:t>Kyatham Pranathi (309)</a:t>
                      </a:r>
                      <a:r>
                        <a:rPr lang="en-IN" sz="1050" dirty="0"/>
                        <a:t> </a:t>
                      </a:r>
                    </a:p>
                  </a:txBody>
                  <a:tcPr marL="25152" marR="25152" marT="12576" marB="12576" anchor="ctr"/>
                </a:tc>
                <a:tc>
                  <a:txBody>
                    <a:bodyPr/>
                    <a:lstStyle/>
                    <a:p>
                      <a:pPr>
                        <a:buNone/>
                      </a:pPr>
                      <a:r>
                        <a:rPr lang="en-US" sz="1050" b="1" dirty="0"/>
                        <a:t>Diabetic Retinopathy Detection and Classification using Deep Learning</a:t>
                      </a:r>
                      <a:endParaRPr lang="en-US" sz="1050" dirty="0"/>
                    </a:p>
                  </a:txBody>
                  <a:tcPr marL="25152" marR="25152" marT="12576" marB="12576" anchor="ctr"/>
                </a:tc>
                <a:tc>
                  <a:txBody>
                    <a:bodyPr/>
                    <a:lstStyle/>
                    <a:p>
                      <a:pPr>
                        <a:buNone/>
                      </a:pPr>
                      <a:r>
                        <a:rPr lang="en-IN" sz="1050" dirty="0"/>
                        <a:t>• Preprocessing: noise reduction, normalization, contrast enhancement. </a:t>
                      </a:r>
                    </a:p>
                    <a:p>
                      <a:pPr>
                        <a:buNone/>
                      </a:pPr>
                      <a:r>
                        <a:rPr lang="en-IN" sz="1050" dirty="0"/>
                        <a:t>• YOLOv8 / Faster R-CNN for lesion detection (microaneurysms, hemorrhages, exudates). </a:t>
                      </a:r>
                    </a:p>
                    <a:p>
                      <a:pPr>
                        <a:buNone/>
                      </a:pPr>
                      <a:r>
                        <a:rPr lang="en-IN" sz="1050" dirty="0"/>
                        <a:t>• CNN / InceptionV3 for DR severity classification (0–4). </a:t>
                      </a:r>
                    </a:p>
                    <a:p>
                      <a:pPr>
                        <a:buNone/>
                      </a:pPr>
                      <a:r>
                        <a:rPr lang="en-IN" sz="1050" dirty="0"/>
                        <a:t>• Data augmentation for class imbalance.</a:t>
                      </a:r>
                    </a:p>
                  </a:txBody>
                  <a:tcPr marL="25152" marR="25152" marT="12576" marB="12576" anchor="ctr"/>
                </a:tc>
                <a:tc>
                  <a:txBody>
                    <a:bodyPr/>
                    <a:lstStyle/>
                    <a:p>
                      <a:pPr>
                        <a:buNone/>
                      </a:pPr>
                      <a:r>
                        <a:rPr lang="en-US" sz="1050" b="1" dirty="0"/>
                        <a:t>Yes</a:t>
                      </a:r>
                      <a:r>
                        <a:rPr lang="en-US" sz="1050" dirty="0"/>
                        <a:t> Fundus image datasets (EyePACS / Kaggle)</a:t>
                      </a:r>
                    </a:p>
                  </a:txBody>
                  <a:tcPr marL="25152" marR="25152" marT="12576" marB="12576" anchor="ctr"/>
                </a:tc>
                <a:tc>
                  <a:txBody>
                    <a:bodyPr/>
                    <a:lstStyle/>
                    <a:p>
                      <a:pPr>
                        <a:buNone/>
                      </a:pPr>
                      <a:r>
                        <a:rPr lang="en-IN" sz="1050"/>
                        <a:t>Python, TensorFlow, PyTorch, YOLOv8, Flask, MySQL</a:t>
                      </a:r>
                    </a:p>
                  </a:txBody>
                  <a:tcPr marL="25152" marR="25152" marT="12576" marB="12576" anchor="ctr"/>
                </a:tc>
                <a:tc>
                  <a:txBody>
                    <a:bodyPr/>
                    <a:lstStyle/>
                    <a:p>
                      <a:pPr>
                        <a:buNone/>
                      </a:pPr>
                      <a:r>
                        <a:rPr lang="en-US" sz="1050" dirty="0"/>
                        <a:t>• High Accuracy</a:t>
                      </a:r>
                    </a:p>
                    <a:p>
                      <a:pPr>
                        <a:buNone/>
                      </a:pPr>
                      <a:r>
                        <a:rPr lang="en-US" sz="1050" dirty="0"/>
                        <a:t>• High Sensitivity &amp; Specificity • Improved lesion detection and classification</a:t>
                      </a:r>
                    </a:p>
                  </a:txBody>
                  <a:tcPr marL="25152" marR="25152" marT="12576" marB="12576" anchor="ctr"/>
                </a:tc>
                <a:extLst>
                  <a:ext uri="{0D108BD9-81ED-4DB2-BD59-A6C34878D82A}">
                    <a16:rowId xmlns:a16="http://schemas.microsoft.com/office/drawing/2014/main" val="4064514899"/>
                  </a:ext>
                </a:extLst>
              </a:tr>
            </a:tbl>
          </a:graphicData>
        </a:graphic>
      </p:graphicFrame>
      <p:sp>
        <p:nvSpPr>
          <p:cNvPr id="4" name="TextBox 3">
            <a:extLst>
              <a:ext uri="{FF2B5EF4-FFF2-40B4-BE49-F238E27FC236}">
                <a16:creationId xmlns:a16="http://schemas.microsoft.com/office/drawing/2014/main" id="{1CB022E7-4E69-221A-8E6A-321B54381BA3}"/>
              </a:ext>
            </a:extLst>
          </p:cNvPr>
          <p:cNvSpPr txBox="1"/>
          <p:nvPr/>
        </p:nvSpPr>
        <p:spPr>
          <a:xfrm>
            <a:off x="4007768" y="188640"/>
            <a:ext cx="6096000" cy="646331"/>
          </a:xfrm>
          <a:prstGeom prst="rect">
            <a:avLst/>
          </a:prstGeom>
          <a:noFill/>
        </p:spPr>
        <p:txBody>
          <a:bodyPr wrap="square">
            <a:spAutoFit/>
          </a:bodyPr>
          <a:lstStyle/>
          <a:p>
            <a:r>
              <a:rPr lang="en-IN" sz="3600" b="1" dirty="0"/>
              <a:t>Literature Review</a:t>
            </a:r>
          </a:p>
        </p:txBody>
      </p:sp>
    </p:spTree>
    <p:extLst>
      <p:ext uri="{BB962C8B-B14F-4D97-AF65-F5344CB8AC3E}">
        <p14:creationId xmlns:p14="http://schemas.microsoft.com/office/powerpoint/2010/main" val="3734916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332F1E-12F4-E6E3-3A5E-6DF5C6E7C945}"/>
              </a:ext>
            </a:extLst>
          </p:cNvPr>
          <p:cNvSpPr txBox="1"/>
          <p:nvPr/>
        </p:nvSpPr>
        <p:spPr>
          <a:xfrm>
            <a:off x="4295800" y="116632"/>
            <a:ext cx="6096000" cy="769441"/>
          </a:xfrm>
          <a:prstGeom prst="rect">
            <a:avLst/>
          </a:prstGeom>
          <a:noFill/>
        </p:spPr>
        <p:txBody>
          <a:bodyPr wrap="square">
            <a:spAutoFit/>
          </a:bodyPr>
          <a:lstStyle/>
          <a:p>
            <a:r>
              <a:rPr lang="en-US" altLang="en-US" sz="4400" dirty="0">
                <a:latin typeface="Times New Roman" panose="02020603050405020304" pitchFamily="18" charset="0"/>
                <a:cs typeface="Times New Roman" panose="02020603050405020304" pitchFamily="18" charset="0"/>
                <a:sym typeface="Times New Roman" panose="02020603050405020304" pitchFamily="18" charset="0"/>
              </a:rPr>
              <a:t>References</a:t>
            </a:r>
            <a:endParaRPr lang="en-IN" sz="4400" dirty="0"/>
          </a:p>
        </p:txBody>
      </p:sp>
      <p:pic>
        <p:nvPicPr>
          <p:cNvPr id="4" name="Picture 3">
            <a:extLst>
              <a:ext uri="{FF2B5EF4-FFF2-40B4-BE49-F238E27FC236}">
                <a16:creationId xmlns:a16="http://schemas.microsoft.com/office/drawing/2014/main" id="{127396DB-DC5A-E2A3-8CD8-A3A0F5BF975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063552" y="0"/>
            <a:ext cx="1160145" cy="1174750"/>
          </a:xfrm>
          <a:prstGeom prst="rect">
            <a:avLst/>
          </a:prstGeom>
          <a:noFill/>
          <a:ln>
            <a:noFill/>
          </a:ln>
        </p:spPr>
      </p:pic>
      <p:sp>
        <p:nvSpPr>
          <p:cNvPr id="6" name="TextBox 5">
            <a:extLst>
              <a:ext uri="{FF2B5EF4-FFF2-40B4-BE49-F238E27FC236}">
                <a16:creationId xmlns:a16="http://schemas.microsoft.com/office/drawing/2014/main" id="{1A598937-E79D-862B-516E-FF23006B8ADB}"/>
              </a:ext>
            </a:extLst>
          </p:cNvPr>
          <p:cNvSpPr txBox="1"/>
          <p:nvPr/>
        </p:nvSpPr>
        <p:spPr>
          <a:xfrm>
            <a:off x="911424" y="1436466"/>
            <a:ext cx="10513168" cy="3788858"/>
          </a:xfrm>
          <a:prstGeom prst="rect">
            <a:avLst/>
          </a:prstGeom>
          <a:noFill/>
        </p:spPr>
        <p:txBody>
          <a:bodyPr wrap="square">
            <a:spAutoFit/>
          </a:bodyPr>
          <a:lstStyle/>
          <a:p>
            <a:pPr marL="0" indent="0" algn="just">
              <a:lnSpc>
                <a:spcPct val="150000"/>
              </a:lnSpc>
              <a:buNone/>
            </a:pPr>
            <a:r>
              <a:rPr lang="en-IN" sz="1800" dirty="0"/>
              <a:t>1. </a:t>
            </a:r>
            <a:r>
              <a:rPr lang="en-IN" sz="1800" dirty="0">
                <a:latin typeface="Times New Roman" panose="02020603050405020304" pitchFamily="18" charset="0"/>
                <a:cs typeface="Times New Roman" panose="02020603050405020304" pitchFamily="18" charset="0"/>
              </a:rPr>
              <a:t>Shamrat, F. M. J., Shakil, R., Sharmin, N. H. O., Akter, B., &amp; Ahmed, M. Z. “An Advanced Deep Neural Network for Fundus Image Analysis and Enhancing Diabetic Retinopathy Detection”. 2023. </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2.  Aishwarya, B. P., Chandan, M. S., Preethu, K. S., &amp; Swathi, K. A. “Diabetic Retinopathy using Inception V3 Model”. 2023. </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3.  Yadav, S., &amp; Awasthi, P. “Diabetic Retinopathy Detection Using Deep Learning and Inception‑V3 Model”. 2022. </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4.  Radhika, K. P., &amp; Vinay, S. “Prediction of Diabetic Retinopathy Using InceptionV3 Model”. 2022.</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5. </a:t>
            </a:r>
            <a:r>
              <a:rPr lang="en-IN" sz="1800" dirty="0" err="1">
                <a:latin typeface="Times New Roman" panose="02020603050405020304" pitchFamily="18" charset="0"/>
                <a:cs typeface="Times New Roman" panose="02020603050405020304" pitchFamily="18" charset="0"/>
              </a:rPr>
              <a:t>Suedumrong</a:t>
            </a:r>
            <a:r>
              <a:rPr lang="en-IN" sz="1800" dirty="0">
                <a:latin typeface="Times New Roman" panose="02020603050405020304" pitchFamily="18" charset="0"/>
                <a:cs typeface="Times New Roman" panose="02020603050405020304" pitchFamily="18" charset="0"/>
              </a:rPr>
              <a:t>, C., </a:t>
            </a:r>
            <a:r>
              <a:rPr lang="en-IN" sz="1800" dirty="0" err="1">
                <a:latin typeface="Times New Roman" panose="02020603050405020304" pitchFamily="18" charset="0"/>
                <a:cs typeface="Times New Roman" panose="02020603050405020304" pitchFamily="18" charset="0"/>
              </a:rPr>
              <a:t>Phongmoo</a:t>
            </a:r>
            <a:r>
              <a:rPr lang="en-IN" sz="1800" dirty="0">
                <a:latin typeface="Times New Roman" panose="02020603050405020304" pitchFamily="18" charset="0"/>
                <a:cs typeface="Times New Roman" panose="02020603050405020304" pitchFamily="18" charset="0"/>
              </a:rPr>
              <a:t>, S., </a:t>
            </a:r>
            <a:r>
              <a:rPr lang="en-IN" sz="1800" dirty="0" err="1">
                <a:latin typeface="Times New Roman" panose="02020603050405020304" pitchFamily="18" charset="0"/>
                <a:cs typeface="Times New Roman" panose="02020603050405020304" pitchFamily="18" charset="0"/>
              </a:rPr>
              <a:t>Akarajaka</a:t>
            </a:r>
            <a:r>
              <a:rPr lang="en-IN" sz="1800" dirty="0">
                <a:latin typeface="Times New Roman" panose="02020603050405020304" pitchFamily="18" charset="0"/>
                <a:cs typeface="Times New Roman" panose="02020603050405020304" pitchFamily="18" charset="0"/>
              </a:rPr>
              <a:t>, T., &amp; </a:t>
            </a:r>
            <a:r>
              <a:rPr lang="en-IN" sz="1800" dirty="0" err="1">
                <a:latin typeface="Times New Roman" panose="02020603050405020304" pitchFamily="18" charset="0"/>
                <a:cs typeface="Times New Roman" panose="02020603050405020304" pitchFamily="18" charset="0"/>
              </a:rPr>
              <a:t>Leksakul</a:t>
            </a:r>
            <a:r>
              <a:rPr lang="en-IN" sz="1800" dirty="0">
                <a:latin typeface="Times New Roman" panose="02020603050405020304" pitchFamily="18" charset="0"/>
                <a:cs typeface="Times New Roman" panose="02020603050405020304" pitchFamily="18" charset="0"/>
              </a:rPr>
              <a:t>, K. “Diabetic Retinopathy Detection Using Convolutional Neural Networks with Background Removal and Data Augmentation”. 2021. </a:t>
            </a:r>
          </a:p>
        </p:txBody>
      </p:sp>
    </p:spTree>
    <p:extLst>
      <p:ext uri="{BB962C8B-B14F-4D97-AF65-F5344CB8AC3E}">
        <p14:creationId xmlns:p14="http://schemas.microsoft.com/office/powerpoint/2010/main" val="39390449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
      <a:dk1>
        <a:srgbClr val="000000"/>
      </a:dk1>
      <a:lt1>
        <a:srgbClr val="FFFFFF"/>
      </a:lt1>
      <a:dk2>
        <a:srgbClr val="A7A7A7"/>
      </a:dk2>
      <a:lt2>
        <a:srgbClr val="535353"/>
      </a:lt2>
      <a:accent1>
        <a:srgbClr val="4472C4"/>
      </a:accent1>
      <a:accent2>
        <a:srgbClr val="ED7D31"/>
      </a:accent2>
      <a:accent3>
        <a:srgbClr val="FFFFFF"/>
      </a:accent3>
      <a:accent4>
        <a:srgbClr val="000000"/>
      </a:accent4>
      <a:accent5>
        <a:srgbClr val="B0BCDE"/>
      </a:accent5>
      <a:accent6>
        <a:srgbClr val="D7712B"/>
      </a:accent6>
      <a:hlink>
        <a:srgbClr val="0000FF"/>
      </a:hlink>
      <a:folHlink>
        <a:srgbClr val="FF00FF"/>
      </a:folHlink>
    </a:clrScheme>
    <a:fontScheme name="Office Theme">
      <a:majorFont>
        <a:latin typeface="Calibri Light"/>
        <a:ea typeface=""/>
        <a:cs typeface="Calibri Light"/>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FFFFFF"/>
        </a:solidFill>
        <a:ln w="25400" cap="flat" cmpd="sng" algn="ctr">
          <a:solidFill>
            <a:schemeClr val="accent1"/>
          </a:solidFill>
          <a:prstDash val="solid"/>
          <a:round/>
          <a:headEnd type="none" w="med" len="med"/>
          <a:tailEnd type="none" w="med" len="med"/>
        </a:ln>
      </a:spPr>
      <a:bodyPr vert="horz" wrap="square" lIns="45720" tIns="45720" rIns="45720" bIns="45720" numCol="1" anchor="ctr" anchorCtr="0" compatLnSpc="1">
        <a:spAutoFit/>
      </a:bodyPr>
      <a:lstStyle>
        <a:defPPr marL="0" marR="0" indent="0" algn="l" defTabSz="914400" rtl="0" eaLnBrk="1" fontAlgn="base" latinLnBrk="0" hangingPunct="0">
          <a:lnSpc>
            <a:spcPct val="100000"/>
          </a:lnSpc>
          <a:spcBef>
            <a:spcPct val="0"/>
          </a:spcBef>
          <a:spcAft>
            <a:spcPct val="0"/>
          </a:spcAft>
          <a:buClrTx/>
          <a:buSzTx/>
          <a:buFontTx/>
          <a:buNone/>
          <a:defRPr kumimoji="0" lang="en-US" altLang="en-US" sz="1800" b="0" i="0" u="none" strike="noStrike" cap="none" normalizeH="0" baseline="0" smtClean="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defRPr>
        </a:defPPr>
      </a:lstStyle>
    </a:spDef>
    <a:lnDef>
      <a:spPr bwMode="auto">
        <a:xfrm>
          <a:off x="0" y="0"/>
          <a:ext cx="1" cy="1"/>
        </a:xfrm>
        <a:custGeom>
          <a:avLst/>
          <a:gdLst/>
          <a:ahLst/>
          <a:cxnLst/>
          <a:rect l="0" t="0" r="0" b="0"/>
          <a:pathLst/>
        </a:custGeom>
        <a:solidFill>
          <a:srgbClr val="FFFFFF"/>
        </a:solidFill>
        <a:ln w="25400" cap="flat" cmpd="sng" algn="ctr">
          <a:solidFill>
            <a:schemeClr val="accent1"/>
          </a:solidFill>
          <a:prstDash val="solid"/>
          <a:round/>
          <a:headEnd type="none" w="med" len="med"/>
          <a:tailEnd type="none" w="med" len="med"/>
        </a:ln>
      </a:spPr>
      <a:bodyPr vert="horz" wrap="square" lIns="45720" tIns="45720" rIns="45720" bIns="45720" numCol="1" anchor="ctr" anchorCtr="0" compatLnSpc="1">
        <a:spAutoFit/>
      </a:bodyPr>
      <a:lstStyle>
        <a:defPPr marL="0" marR="0" indent="0" algn="l" defTabSz="914400" rtl="0" eaLnBrk="1" fontAlgn="base" latinLnBrk="0" hangingPunct="0">
          <a:lnSpc>
            <a:spcPct val="100000"/>
          </a:lnSpc>
          <a:spcBef>
            <a:spcPct val="0"/>
          </a:spcBef>
          <a:spcAft>
            <a:spcPct val="0"/>
          </a:spcAft>
          <a:buClrTx/>
          <a:buSzTx/>
          <a:buFontTx/>
          <a:buNone/>
          <a:defRPr kumimoji="0" lang="en-US" altLang="en-US" sz="1800" b="0" i="0" u="none" strike="noStrike" cap="none" normalizeH="0" baseline="0" smtClean="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A7A7A7"/>
      </a:dk2>
      <a:lt2>
        <a:srgbClr val="535353"/>
      </a:lt2>
      <a:accent1>
        <a:srgbClr val="4472C4"/>
      </a:accent1>
      <a:accent2>
        <a:srgbClr val="ED7D31"/>
      </a:accent2>
      <a:accent3>
        <a:srgbClr val="FFFFFF"/>
      </a:accent3>
      <a:accent4>
        <a:srgbClr val="000000"/>
      </a:accent4>
      <a:accent5>
        <a:srgbClr val="B0BCDE"/>
      </a:accent5>
      <a:accent6>
        <a:srgbClr val="D7712B"/>
      </a:accent6>
      <a:hlink>
        <a:srgbClr val="0000FF"/>
      </a:hlink>
      <a:folHlink>
        <a:srgbClr val="FF00FF"/>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1068</Words>
  <Application>Microsoft Office PowerPoint</Application>
  <PresentationFormat>Widescreen</PresentationFormat>
  <Paragraphs>98</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Times Roman</vt:lpstr>
      <vt:lpstr>Office Theme</vt:lpstr>
      <vt:lpstr>   Diabetic Retinopathy Detection and                   Classification using Deep learning </vt:lpstr>
      <vt:lpstr>ABSTRACT</vt:lpstr>
      <vt:lpstr>PowerPoint Presentation</vt:lpstr>
      <vt:lpstr>Requirements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nishitha mns</dc:creator>
  <cp:lastModifiedBy>saiprasanna pidugu</cp:lastModifiedBy>
  <cp:revision>27</cp:revision>
  <dcterms:created xsi:type="dcterms:W3CDTF">2025-06-19T15:59:00Z</dcterms:created>
  <dcterms:modified xsi:type="dcterms:W3CDTF">2026-04-07T03:36:42Z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B8E3040A2EE84B0BB760752C372DB70A_12</vt:lpwstr>
  </property>
  <property fmtid="{D5CDD505-2E9C-101B-9397-08002B2CF9AE}" pid="3" name="KSOProductBuildVer">
    <vt:lpwstr>1033-12.2.0.23131</vt:lpwstr>
  </property>
</Properties>
</file>